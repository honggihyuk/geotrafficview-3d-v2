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7406640" y="594360"/>
            <a:ext cx="4480560" cy="10973"/>
          </a:xfrm>
          <a:prstGeom prst="rect">
            <a:avLst/>
          </a:prstGeom>
          <a:solidFill>
            <a:srgbClr val="0E7A6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06640" y="813816"/>
            <a:ext cx="4480560" cy="10973"/>
          </a:xfrm>
          <a:prstGeom prst="rect">
            <a:avLst/>
          </a:prstGeom>
          <a:solidFill>
            <a:srgbClr val="0E7A6A">
              <a:alpha val="6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06640" y="1033272"/>
            <a:ext cx="4480560" cy="10973"/>
          </a:xfrm>
          <a:prstGeom prst="rect">
            <a:avLst/>
          </a:prstGeom>
          <a:solidFill>
            <a:srgbClr val="0E7A6A">
              <a:alpha val="5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06640" y="1252728"/>
            <a:ext cx="4480560" cy="10973"/>
          </a:xfrm>
          <a:prstGeom prst="rect">
            <a:avLst/>
          </a:prstGeom>
          <a:solidFill>
            <a:srgbClr val="0E7A6A">
              <a:alpha val="4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472184"/>
            <a:ext cx="4480560" cy="10973"/>
          </a:xfrm>
          <a:prstGeom prst="rect">
            <a:avLst/>
          </a:prstGeom>
          <a:solidFill>
            <a:srgbClr val="0E7A6A">
              <a:alpha val="3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06640" y="1691640"/>
            <a:ext cx="4480560" cy="10973"/>
          </a:xfrm>
          <a:prstGeom prst="rect">
            <a:avLst/>
          </a:prstGeom>
          <a:solidFill>
            <a:srgbClr val="0E7A6A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06640" y="1911096"/>
            <a:ext cx="4480560" cy="10973"/>
          </a:xfrm>
          <a:prstGeom prst="rect">
            <a:avLst/>
          </a:prstGeom>
          <a:solidFill>
            <a:srgbClr val="0E7A6A">
              <a:alpha val="2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REPORT   |   2026. 07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123444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영상 기반</a:t>
            </a:r>
            <a:endParaRPr lang="en-US" sz="3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교통 디지털 트윈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85800" y="3063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v2  —  위성지도 위에 실시간 교통을 다시 그리다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611880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5240">
            <a:solidFill>
              <a:srgbClr val="0E7A6A"/>
            </a:solidFill>
            <a:prstDash val="solid"/>
          </a:ln>
        </p:spPr>
      </p:sp>
      <p:pic>
        <p:nvPicPr>
          <p:cNvPr id="14" name="Image 0" descr="icons/satelli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712464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14984" y="361188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위성지도 · CCTV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368296" y="3611880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5240">
            <a:solidFill>
              <a:srgbClr val="0E7A6A"/>
            </a:solidFill>
            <a:prstDash val="solid"/>
          </a:ln>
        </p:spPr>
      </p:sp>
      <p:pic>
        <p:nvPicPr>
          <p:cNvPr id="17" name="Image 1" descr="icons/box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024" y="3712464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97480" y="361188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실좌표 3D 재현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050792" y="3611880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5240">
            <a:solidFill>
              <a:srgbClr val="0E7A6A"/>
            </a:solidFill>
            <a:prstDash val="solid"/>
          </a:ln>
        </p:spPr>
      </p:sp>
      <p:pic>
        <p:nvPicPr>
          <p:cNvPr id="20" name="Image 2" descr="icons/db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712464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379976" y="361188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 DB 적재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5733288" y="3611880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5240">
            <a:solidFill>
              <a:srgbClr val="0E7A6A"/>
            </a:solidFill>
            <a:prstDash val="solid"/>
          </a:ln>
        </p:spPr>
      </p:sp>
      <p:pic>
        <p:nvPicPr>
          <p:cNvPr id="23" name="Image 3" descr="icons/cha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712464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062472" y="361188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질의 (LLM)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7635240" y="2331720"/>
            <a:ext cx="3977640" cy="3063240"/>
          </a:xfrm>
          <a:prstGeom prst="roundRect">
            <a:avLst>
              <a:gd name="adj" fmla="val 1791"/>
            </a:avLst>
          </a:prstGeom>
          <a:solidFill>
            <a:srgbClr val="0C2238"/>
          </a:solidFill>
          <a:ln w="12700">
            <a:solidFill>
              <a:srgbClr val="0E7A6A"/>
            </a:solidFill>
            <a:prstDash val="solid"/>
          </a:ln>
        </p:spPr>
      </p:sp>
      <p:pic>
        <p:nvPicPr>
          <p:cNvPr id="26" name="Image 4" descr="img/pangy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514600"/>
            <a:ext cx="3611880" cy="24048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818120" y="49743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경부선 판교2 CCTV — 대표 분석 지점</a:t>
            </a:r>
            <a:endParaRPr lang="en-US" sz="900" dirty="0"/>
          </a:p>
        </p:txBody>
      </p:sp>
      <p:pic>
        <p:nvPicPr>
          <p:cNvPr id="28" name="Image 5" descr="icons/crosshair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61772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33272" y="4590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정확성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685800" y="49011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기준점과 정량 검증</a:t>
            </a:r>
            <a:endParaRPr lang="en-US" sz="750" dirty="0"/>
          </a:p>
        </p:txBody>
      </p:sp>
      <p:pic>
        <p:nvPicPr>
          <p:cNvPr id="31" name="Image 6" descr="icons/gauge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8880" y="461772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816352" y="4590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재현성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2468880" y="49011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영상과 지도 동기 재생</a:t>
            </a:r>
            <a:endParaRPr lang="en-US" sz="750" dirty="0"/>
          </a:p>
        </p:txBody>
      </p:sp>
      <p:pic>
        <p:nvPicPr>
          <p:cNvPr id="34" name="Image 7" descr="icons/layers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960" y="4617720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599432" y="4590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통합성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4251960" y="49011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수집-표현-DB-질의 일원화</a:t>
            </a:r>
            <a:endParaRPr lang="en-US" sz="750" dirty="0"/>
          </a:p>
        </p:txBody>
      </p:sp>
      <p:pic>
        <p:nvPicPr>
          <p:cNvPr id="37" name="Image 8" descr="icons/shield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4617720"/>
            <a:ext cx="274320" cy="27432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382512" y="4590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</a:t>
            </a:r>
            <a:endParaRPr lang="en-US" sz="1050" dirty="0"/>
          </a:p>
        </p:txBody>
      </p:sp>
      <p:sp>
        <p:nvSpPr>
          <p:cNvPr id="39" name="Text 28"/>
          <p:cNvSpPr/>
          <p:nvPr/>
        </p:nvSpPr>
        <p:spPr>
          <a:xfrm>
            <a:off x="6035040" y="49011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 없는 시도도 기록</a:t>
            </a:r>
            <a:endParaRPr lang="en-US" sz="750" dirty="0"/>
          </a:p>
        </p:txBody>
      </p:sp>
      <p:sp>
        <p:nvSpPr>
          <p:cNvPr id="40" name="Shape 29"/>
          <p:cNvSpPr/>
          <p:nvPr/>
        </p:nvSpPr>
        <p:spPr>
          <a:xfrm>
            <a:off x="685800" y="5806440"/>
            <a:ext cx="10817352" cy="12802"/>
          </a:xfrm>
          <a:prstGeom prst="rect">
            <a:avLst/>
          </a:prstGeom>
          <a:solidFill>
            <a:srgbClr val="2C4A66"/>
          </a:solidFill>
          <a:ln/>
        </p:spPr>
      </p:sp>
      <p:sp>
        <p:nvSpPr>
          <p:cNvPr id="41" name="Text 30"/>
          <p:cNvSpPr/>
          <p:nvPr/>
        </p:nvSpPr>
        <p:spPr>
          <a:xfrm>
            <a:off x="6858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AI동아리  인하이브 (INHAIVE)</a:t>
            </a:r>
            <a:endParaRPr lang="en-US" sz="1300" dirty="0"/>
          </a:p>
        </p:txBody>
      </p:sp>
      <p:sp>
        <p:nvSpPr>
          <p:cNvPr id="42" name="Text 31"/>
          <p:cNvSpPr/>
          <p:nvPr/>
        </p:nvSpPr>
        <p:spPr>
          <a:xfrm>
            <a:off x="7315200" y="598932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07. 28  ·  기술 발표자료</a:t>
            </a:r>
            <a:endParaRPr lang="en-US" sz="1000" dirty="0"/>
          </a:p>
        </p:txBody>
      </p:sp>
      <p:sp>
        <p:nvSpPr>
          <p:cNvPr id="43" name="Shape 32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44" name="Text 33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차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기반 3D 교통 디지털 트윈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v2</a:t>
            </a:r>
            <a:endParaRPr lang="en-US" sz="1100" dirty="0"/>
          </a:p>
        </p:txBody>
      </p:sp>
      <p:pic>
        <p:nvPicPr>
          <p:cNvPr id="6" name="Image 0" descr="img/n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931920"/>
            <a:ext cx="3017520" cy="1591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속 차량이 지도 위 3D 모형이 됩니다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389120" y="7772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7375E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0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120640" y="75895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120640" y="107899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만들었는가 · 주요 기능 · 전체 작동 흐름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120640" y="1490472"/>
            <a:ext cx="6656832" cy="7315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13" name="Shape 10"/>
          <p:cNvSpPr/>
          <p:nvPr/>
        </p:nvSpPr>
        <p:spPr>
          <a:xfrm>
            <a:off x="4389120" y="1709928"/>
            <a:ext cx="566928" cy="566928"/>
          </a:xfrm>
          <a:prstGeom prst="roundRect">
            <a:avLst>
              <a:gd name="adj" fmla="val 8065"/>
            </a:avLst>
          </a:prstGeom>
          <a:solidFill>
            <a:srgbClr val="0E7A6A"/>
          </a:solidFill>
          <a:ln/>
        </p:spPr>
      </p:sp>
      <p:sp>
        <p:nvSpPr>
          <p:cNvPr id="14" name="Text 11"/>
          <p:cNvSpPr/>
          <p:nvPr/>
        </p:nvSpPr>
        <p:spPr>
          <a:xfrm>
            <a:off x="4389120" y="1709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20640" y="169164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사례 — 판교 CCTV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120640" y="201168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정밀지도 일치 · 차선 안 자연스러운 이동 · 실측 위치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120640" y="2423160"/>
            <a:ext cx="6656832" cy="7315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18" name="Shape 15"/>
          <p:cNvSpPr/>
          <p:nvPr/>
        </p:nvSpPr>
        <p:spPr>
          <a:xfrm>
            <a:off x="4389120" y="264261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7375E"/>
          </a:solidFill>
          <a:ln/>
        </p:spPr>
      </p:sp>
      <p:sp>
        <p:nvSpPr>
          <p:cNvPr id="19" name="Text 16"/>
          <p:cNvSpPr/>
          <p:nvPr/>
        </p:nvSpPr>
        <p:spPr>
          <a:xfrm>
            <a:off x="4389120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20640" y="2624328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지도·데이터 연동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120640" y="294436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고해상 위성지도 3D · 전국 CCTV와 위치 오차 · 서울 cm급 결합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120640" y="3355848"/>
            <a:ext cx="6656832" cy="7315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23" name="Shape 20"/>
          <p:cNvSpPr/>
          <p:nvPr/>
        </p:nvSpPr>
        <p:spPr>
          <a:xfrm>
            <a:off x="4389120" y="357530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0E7A6A"/>
          </a:solidFill>
          <a:ln/>
        </p:spPr>
      </p:sp>
      <p:sp>
        <p:nvSpPr>
          <p:cNvPr id="24" name="Text 21"/>
          <p:cNvSpPr/>
          <p:nvPr/>
        </p:nvSpPr>
        <p:spPr>
          <a:xfrm>
            <a:off x="4389120" y="3575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20640" y="355701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탐지 고도화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120640" y="387705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부감 특화 인식 · 오탐 제거와 정량 검증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120640" y="4288536"/>
            <a:ext cx="6656832" cy="7315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28" name="Shape 25"/>
          <p:cNvSpPr/>
          <p:nvPr/>
        </p:nvSpPr>
        <p:spPr>
          <a:xfrm>
            <a:off x="4389120" y="450799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7375E"/>
          </a:solidFill>
          <a:ln/>
        </p:spPr>
      </p:sp>
      <p:sp>
        <p:nvSpPr>
          <p:cNvPr id="29" name="Text 26"/>
          <p:cNvSpPr/>
          <p:nvPr/>
        </p:nvSpPr>
        <p:spPr>
          <a:xfrm>
            <a:off x="4389120" y="4507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20640" y="448970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보정(캘리브레이션)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120640" y="480974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보정 3단계 · 기준점 작업 가이드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120640" y="5221224"/>
            <a:ext cx="6656832" cy="7315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33" name="Shape 30"/>
          <p:cNvSpPr/>
          <p:nvPr/>
        </p:nvSpPr>
        <p:spPr>
          <a:xfrm>
            <a:off x="4389120" y="54406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0E7A6A"/>
          </a:solidFill>
          <a:ln/>
        </p:spPr>
      </p:sp>
      <p:sp>
        <p:nvSpPr>
          <p:cNvPr id="34" name="Text 31"/>
          <p:cNvSpPr/>
          <p:nvPr/>
        </p:nvSpPr>
        <p:spPr>
          <a:xfrm>
            <a:off x="4389120" y="5440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20640" y="542239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이동체 표현 고도화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5120640" y="57424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정면·후면 판정 · 경로 학습과 방향 예측 · 성과와 과제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38" name="Text 35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Ⅰ-1.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결과물 — 무엇을 만들었는가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 CCTV 영상으로 실제 지도 위에 교통을 3D로 재현하는 웹 기반 디지털 트윈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188720"/>
            <a:ext cx="4069080" cy="2148840"/>
          </a:xfrm>
          <a:prstGeom prst="roundRect">
            <a:avLst>
              <a:gd name="adj" fmla="val 2128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" y="1042416"/>
            <a:ext cx="973836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042416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148132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영상 하나로,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지도 위에 살아있는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교통을 다시 그린다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03504" y="2560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✓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클릭 → 좌: 원본 영상 + 3D 상자 / 우: 지도 위 3D 차량 동시 재생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✓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재생 시각을 기준 시계로 두 화면을 프레임 동기화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" y="3547872"/>
            <a:ext cx="3867912" cy="2560320"/>
          </a:xfrm>
          <a:prstGeom prst="roundRect">
            <a:avLst>
              <a:gd name="adj" fmla="val 1429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pic>
        <p:nvPicPr>
          <p:cNvPr id="24" name="Image 0" descr="img/pangy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584448"/>
            <a:ext cx="3794760" cy="223113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02920" y="583387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대상 CCTV 화면 (경부선 판교2)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90288" y="1188720"/>
            <a:ext cx="7187184" cy="905256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18304" y="1403604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8" name="Image 1" descr="icons/satellit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911" y="1508211"/>
            <a:ext cx="266273" cy="266273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03520" y="1261872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 </a:t>
            </a: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위성지도 · CCTV 마커 지도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5303520" y="1527048"/>
            <a:ext cx="6345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고해상 위성영상 위에 전국 고속도로·국도와 서울 CCTV의 실제 위치를 표시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4590288" y="2180844"/>
            <a:ext cx="7187184" cy="905256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718304" y="2395728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3" name="Image 2" descr="icons/sca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911" y="2500335"/>
            <a:ext cx="266273" cy="266273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303520" y="2253996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</a:t>
            </a: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속 차량 인식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5303520" y="2519172"/>
            <a:ext cx="6345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모델이 차량·보행자 10종을 찾아내고 같은 차에 같은 번호를 유지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4590288" y="3172968"/>
            <a:ext cx="7187184" cy="905256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718304" y="3387852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8" name="Image 3" descr="icons/box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911" y="3492459"/>
            <a:ext cx="266273" cy="266273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303520" y="3246120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</a:t>
            </a: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 3D 재현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5303520" y="3511296"/>
            <a:ext cx="6345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좌표를 실제 좌표로 변환해 차종별 실측 크기의 3D 모형으로 표시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4590288" y="4165092"/>
            <a:ext cx="7187184" cy="905256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718304" y="43799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43" name="Image 4" descr="icons/db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911" y="4484583"/>
            <a:ext cx="266273" cy="266273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303520" y="4238244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</a:t>
            </a: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 DB 저장</a:t>
            </a:r>
            <a:endParaRPr lang="en-US" sz="1150" dirty="0"/>
          </a:p>
        </p:txBody>
      </p:sp>
      <p:sp>
        <p:nvSpPr>
          <p:cNvPr id="45" name="Text 38"/>
          <p:cNvSpPr/>
          <p:nvPr/>
        </p:nvSpPr>
        <p:spPr>
          <a:xfrm>
            <a:off x="5303520" y="4503420"/>
            <a:ext cx="6345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시각·위치·차종·속도·방향을 공간 데이터베이스에 적재, 화면과 DB 일치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4590288" y="5157216"/>
            <a:ext cx="7187184" cy="905256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4718304" y="5372100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48" name="Image 5" descr="icons/cha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911" y="5476707"/>
            <a:ext cx="266273" cy="266273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5303520" y="5230368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 </a:t>
            </a: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묻는 교통 통계</a:t>
            </a:r>
            <a:endParaRPr lang="en-US" sz="1150" dirty="0"/>
          </a:p>
        </p:txBody>
      </p:sp>
      <p:sp>
        <p:nvSpPr>
          <p:cNvPr id="50" name="Text 42"/>
          <p:cNvSpPr/>
          <p:nvPr/>
        </p:nvSpPr>
        <p:spPr>
          <a:xfrm>
            <a:off x="5303520" y="5495544"/>
            <a:ext cx="6345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"가장 혼잡한 카메라는?" — 내장 언어모델이 DB를 조회해 한국어로 답변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52" name="Text 44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관찰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3D 재현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통계 질의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한 화면에서 — 브라우저만으로 구동</a:t>
            </a:r>
            <a:endParaRPr lang="en-US" sz="1250" dirty="0"/>
          </a:p>
        </p:txBody>
      </p:sp>
      <p:sp>
        <p:nvSpPr>
          <p:cNvPr id="53" name="Shape 45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54" name="Text 46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Ⅰ-2.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· 재현 · 보정 · 저장 · 질의 · 평가를 하나의 웹 화면에 통합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207008"/>
            <a:ext cx="371246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" y="1353312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0" name="Image 0" descr="icons/pla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53896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 패널 동기 재생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" y="182880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영상 위 3D 상자(좌)와 지도 위 실좌표 3D 차량(우)을 하나의 시계로 동시 재생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288536" y="1207008"/>
            <a:ext cx="371246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34840" y="1353312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5" name="Image 1" descr="icons/ca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1453896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01768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차량 모형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471416" y="182880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모델 없이 코드로 만든 차체·전조등·미등 모형을 차종별 실제 크기로 — 앞뒤가 보인다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8165592" y="1207008"/>
            <a:ext cx="371246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11896" y="1353312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0" name="Image 2" descr="icons/crosshai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53896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878824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보정 화면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8348472" y="182880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CCTV와 위성지도를 나란히 놓고 같은 지점을 짝지어 클릭 — 변환식 자동 계산·저장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11480" y="2834640"/>
            <a:ext cx="371246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57784" y="2980944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5" name="Image 3" descr="icons/db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81528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124712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 DB 적재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94360" y="345643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PostGIS 또는 설치 없는 SQLite에 적재 — 화면에 보이는 데이터와 DB가 항상 일치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4288536" y="2834640"/>
            <a:ext cx="371246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434840" y="2980944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40" name="Image 4" descr="icons/cha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3081528"/>
            <a:ext cx="256032" cy="25603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001768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질의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4471416" y="345643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언어모델이 질문을 읽기 전용 SQL로 변환·실행 후 한국어로 요약 답변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8165592" y="2834640"/>
            <a:ext cx="371246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8311896" y="2980944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45" name="Image 5" descr="icons/char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081528"/>
            <a:ext cx="256032" cy="25603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878824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도구 내장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8348472" y="345643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라벨 작성기와 채점기로 인식·추적 품질을 수치로 검증 (AP50 · MOTA · IDF1)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411480" y="4590288"/>
            <a:ext cx="11365992" cy="1463040"/>
          </a:xfrm>
          <a:prstGeom prst="roundRect">
            <a:avLst>
              <a:gd name="adj" fmla="val 3125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576072" y="4443984"/>
            <a:ext cx="1371600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50" name="Text 42"/>
          <p:cNvSpPr/>
          <p:nvPr/>
        </p:nvSpPr>
        <p:spPr>
          <a:xfrm>
            <a:off x="576072" y="4443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구축 현황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685800" y="4892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6대</a:t>
            </a:r>
            <a:endParaRPr lang="en-US" sz="2100" dirty="0"/>
          </a:p>
        </p:txBody>
      </p:sp>
      <p:sp>
        <p:nvSpPr>
          <p:cNvPr id="52" name="Text 44"/>
          <p:cNvSpPr/>
          <p:nvPr/>
        </p:nvSpPr>
        <p:spPr>
          <a:xfrm>
            <a:off x="685800" y="53309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카메라 (판교·송도·연수·옥련·상암 등)</a:t>
            </a:r>
            <a:endParaRPr lang="en-US" sz="850" dirty="0"/>
          </a:p>
        </p:txBody>
      </p:sp>
      <p:sp>
        <p:nvSpPr>
          <p:cNvPr id="53" name="Text 45"/>
          <p:cNvSpPr/>
          <p:nvPr/>
        </p:nvSpPr>
        <p:spPr>
          <a:xfrm>
            <a:off x="3474720" y="4892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10종</a:t>
            </a:r>
            <a:endParaRPr lang="en-US" sz="2100" dirty="0"/>
          </a:p>
        </p:txBody>
      </p:sp>
      <p:sp>
        <p:nvSpPr>
          <p:cNvPr id="54" name="Text 46"/>
          <p:cNvSpPr/>
          <p:nvPr/>
        </p:nvSpPr>
        <p:spPr>
          <a:xfrm>
            <a:off x="3474720" y="53309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대상 (승용·버스·트럭·보행자 등)</a:t>
            </a:r>
            <a:endParaRPr lang="en-US" sz="850" dirty="0"/>
          </a:p>
        </p:txBody>
      </p:sp>
      <p:sp>
        <p:nvSpPr>
          <p:cNvPr id="55" name="Text 47"/>
          <p:cNvSpPr/>
          <p:nvPr/>
        </p:nvSpPr>
        <p:spPr>
          <a:xfrm>
            <a:off x="6263640" y="4892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2종</a:t>
            </a:r>
            <a:endParaRPr lang="en-US" sz="2100" dirty="0"/>
          </a:p>
        </p:txBody>
      </p:sp>
      <p:sp>
        <p:nvSpPr>
          <p:cNvPr id="56" name="Text 48"/>
          <p:cNvSpPr/>
          <p:nvPr/>
        </p:nvSpPr>
        <p:spPr>
          <a:xfrm>
            <a:off x="6263640" y="53309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위성지도 (Esri 고해상 · Sentinel-2)</a:t>
            </a:r>
            <a:endParaRPr lang="en-US" sz="850" dirty="0"/>
          </a:p>
        </p:txBody>
      </p:sp>
      <p:sp>
        <p:nvSpPr>
          <p:cNvPr id="57" name="Text 49"/>
          <p:cNvSpPr/>
          <p:nvPr/>
        </p:nvSpPr>
        <p:spPr>
          <a:xfrm>
            <a:off x="9052560" y="4892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6구간</a:t>
            </a:r>
            <a:endParaRPr lang="en-US" sz="2100" dirty="0"/>
          </a:p>
        </p:txBody>
      </p:sp>
      <p:sp>
        <p:nvSpPr>
          <p:cNvPr id="58" name="Text 50"/>
          <p:cNvSpPr/>
          <p:nvPr/>
        </p:nvSpPr>
        <p:spPr>
          <a:xfrm>
            <a:off x="9052560" y="53309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확보한 정밀도로지도 데이터</a:t>
            </a:r>
            <a:endParaRPr lang="en-US" sz="850" dirty="0"/>
          </a:p>
        </p:txBody>
      </p:sp>
      <p:sp>
        <p:nvSpPr>
          <p:cNvPr id="59" name="Shape 51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60" name="Text 52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Ⅰ-3.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작동 흐름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수집부터 자연어 질의까지 — 다섯 단계 일방향 파이프라인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417320"/>
            <a:ext cx="2075688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" y="1289304"/>
            <a:ext cx="384048" cy="274320"/>
          </a:xfrm>
          <a:prstGeom prst="rect">
            <a:avLst/>
          </a:prstGeom>
          <a:solidFill>
            <a:srgbClr val="0E7A6A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" y="12893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43000" y="1645920"/>
            <a:ext cx="603504" cy="603504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2" name="Image 0" descr="icons/downloa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771" y="1778691"/>
            <a:ext cx="337962" cy="33796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2920" y="230428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수집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57784" y="2606040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 API(ITS·TOPIS)에서 CCTV 목록·실시간 주소 확보, 클립·스냅샷 저장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505456" y="2212848"/>
            <a:ext cx="310896" cy="310896"/>
          </a:xfrm>
          <a:prstGeom prst="chevron">
            <a:avLst/>
          </a:prstGeom>
          <a:solidFill>
            <a:srgbClr val="17375E"/>
          </a:solidFill>
          <a:ln/>
        </p:spPr>
      </p:sp>
      <p:sp>
        <p:nvSpPr>
          <p:cNvPr id="26" name="Shape 23"/>
          <p:cNvSpPr/>
          <p:nvPr/>
        </p:nvSpPr>
        <p:spPr>
          <a:xfrm>
            <a:off x="2761488" y="1417320"/>
            <a:ext cx="2075688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889504" y="1289304"/>
            <a:ext cx="384048" cy="274320"/>
          </a:xfrm>
          <a:prstGeom prst="rect">
            <a:avLst/>
          </a:prstGeom>
          <a:solidFill>
            <a:srgbClr val="0E7A6A"/>
          </a:solidFill>
          <a:ln/>
        </p:spPr>
      </p:sp>
      <p:sp>
        <p:nvSpPr>
          <p:cNvPr id="28" name="Text 25"/>
          <p:cNvSpPr/>
          <p:nvPr/>
        </p:nvSpPr>
        <p:spPr>
          <a:xfrm>
            <a:off x="2889504" y="12893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493008" y="1645920"/>
            <a:ext cx="603504" cy="603504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0" name="Image 1" descr="icons/sca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779" y="1778691"/>
            <a:ext cx="337962" cy="33796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852928" y="230428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인식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2907792" y="2606040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모델 + 추적기 — 원거리 소형차는 화면 분할 인식으로 보완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855464" y="2212848"/>
            <a:ext cx="310896" cy="310896"/>
          </a:xfrm>
          <a:prstGeom prst="chevron">
            <a:avLst/>
          </a:prstGeom>
          <a:solidFill>
            <a:srgbClr val="17375E"/>
          </a:solidFill>
          <a:ln/>
        </p:spPr>
      </p:sp>
      <p:sp>
        <p:nvSpPr>
          <p:cNvPr id="34" name="Shape 30"/>
          <p:cNvSpPr/>
          <p:nvPr/>
        </p:nvSpPr>
        <p:spPr>
          <a:xfrm>
            <a:off x="5111496" y="1417320"/>
            <a:ext cx="2075688" cy="1965960"/>
          </a:xfrm>
          <a:prstGeom prst="roundRect">
            <a:avLst>
              <a:gd name="adj" fmla="val 2326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239512" y="1289304"/>
            <a:ext cx="384048" cy="274320"/>
          </a:xfrm>
          <a:prstGeom prst="rect">
            <a:avLst/>
          </a:prstGeom>
          <a:solidFill>
            <a:srgbClr val="0E7A6A"/>
          </a:solidFill>
          <a:ln/>
        </p:spPr>
      </p:sp>
      <p:sp>
        <p:nvSpPr>
          <p:cNvPr id="36" name="Text 32"/>
          <p:cNvSpPr/>
          <p:nvPr/>
        </p:nvSpPr>
        <p:spPr>
          <a:xfrm>
            <a:off x="5239512" y="12893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5843016" y="1645920"/>
            <a:ext cx="603504" cy="603504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8" name="Image 2" descr="icons/ma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787" y="1778691"/>
            <a:ext cx="337962" cy="33796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202936" y="230428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3D 표현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5257800" y="2606040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변환식으로 실좌표 이동, 차로 중심선 정렬, 3D 모형 렌더링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7205472" y="2212848"/>
            <a:ext cx="310896" cy="310896"/>
          </a:xfrm>
          <a:prstGeom prst="chevron">
            <a:avLst/>
          </a:prstGeom>
          <a:solidFill>
            <a:srgbClr val="17375E"/>
          </a:solidFill>
          <a:ln/>
        </p:spPr>
      </p:sp>
      <p:sp>
        <p:nvSpPr>
          <p:cNvPr id="42" name="Shape 37"/>
          <p:cNvSpPr/>
          <p:nvPr/>
        </p:nvSpPr>
        <p:spPr>
          <a:xfrm>
            <a:off x="7461504" y="1417320"/>
            <a:ext cx="2075688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7589520" y="1289304"/>
            <a:ext cx="384048" cy="274320"/>
          </a:xfrm>
          <a:prstGeom prst="rect">
            <a:avLst/>
          </a:prstGeom>
          <a:solidFill>
            <a:srgbClr val="0E7A6A"/>
          </a:solidFill>
          <a:ln/>
        </p:spPr>
      </p:sp>
      <p:sp>
        <p:nvSpPr>
          <p:cNvPr id="44" name="Text 39"/>
          <p:cNvSpPr/>
          <p:nvPr/>
        </p:nvSpPr>
        <p:spPr>
          <a:xfrm>
            <a:off x="7589520" y="12893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8193024" y="1645920"/>
            <a:ext cx="603504" cy="603504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46" name="Image 3" descr="icons/db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795" y="1778691"/>
            <a:ext cx="337962" cy="337962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552944" y="230428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저장</a:t>
            </a:r>
            <a:endParaRPr lang="en-US" sz="1250" dirty="0"/>
          </a:p>
        </p:txBody>
      </p:sp>
      <p:sp>
        <p:nvSpPr>
          <p:cNvPr id="48" name="Text 42"/>
          <p:cNvSpPr/>
          <p:nvPr/>
        </p:nvSpPr>
        <p:spPr>
          <a:xfrm>
            <a:off x="7607808" y="2606040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 단위 결과를 공간 DB 적재, 카메라별 요약 뷰 생성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9555480" y="2212848"/>
            <a:ext cx="310896" cy="310896"/>
          </a:xfrm>
          <a:prstGeom prst="chevron">
            <a:avLst/>
          </a:prstGeom>
          <a:solidFill>
            <a:srgbClr val="17375E"/>
          </a:solidFill>
          <a:ln/>
        </p:spPr>
      </p:sp>
      <p:sp>
        <p:nvSpPr>
          <p:cNvPr id="50" name="Shape 44"/>
          <p:cNvSpPr/>
          <p:nvPr/>
        </p:nvSpPr>
        <p:spPr>
          <a:xfrm>
            <a:off x="9811512" y="1417320"/>
            <a:ext cx="2075688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9939528" y="1289304"/>
            <a:ext cx="384048" cy="274320"/>
          </a:xfrm>
          <a:prstGeom prst="rect">
            <a:avLst/>
          </a:prstGeom>
          <a:solidFill>
            <a:srgbClr val="0E7A6A"/>
          </a:solidFill>
          <a:ln/>
        </p:spPr>
      </p:sp>
      <p:sp>
        <p:nvSpPr>
          <p:cNvPr id="52" name="Text 46"/>
          <p:cNvSpPr/>
          <p:nvPr/>
        </p:nvSpPr>
        <p:spPr>
          <a:xfrm>
            <a:off x="9939528" y="12893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10543032" y="1645920"/>
            <a:ext cx="603504" cy="603504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54" name="Image 4" descr="icons/cha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5803" y="1778691"/>
            <a:ext cx="337962" cy="337962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9902952" y="230428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질의</a:t>
            </a:r>
            <a:endParaRPr lang="en-US" sz="1250" dirty="0"/>
          </a:p>
        </p:txBody>
      </p:sp>
      <p:sp>
        <p:nvSpPr>
          <p:cNvPr id="56" name="Text 49"/>
          <p:cNvSpPr/>
          <p:nvPr/>
        </p:nvSpPr>
        <p:spPr>
          <a:xfrm>
            <a:off x="9957816" y="2606040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언어모델의 SQL 생성 → 읽기 전용 실행 → 한국어 요약</a:t>
            </a:r>
            <a:endParaRPr lang="en-US" sz="850" dirty="0"/>
          </a:p>
        </p:txBody>
      </p:sp>
      <p:sp>
        <p:nvSpPr>
          <p:cNvPr id="57" name="Shape 50"/>
          <p:cNvSpPr/>
          <p:nvPr/>
        </p:nvSpPr>
        <p:spPr>
          <a:xfrm>
            <a:off x="411480" y="3703320"/>
            <a:ext cx="55778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576072" y="3557016"/>
            <a:ext cx="1901952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59" name="Text 52"/>
          <p:cNvSpPr/>
          <p:nvPr/>
        </p:nvSpPr>
        <p:spPr>
          <a:xfrm>
            <a:off x="576072" y="355701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돌리지 않는 설계</a:t>
            </a:r>
            <a:endParaRPr lang="en-US" sz="1000" dirty="0"/>
          </a:p>
        </p:txBody>
      </p:sp>
      <p:sp>
        <p:nvSpPr>
          <p:cNvPr id="60" name="Text 53"/>
          <p:cNvSpPr/>
          <p:nvPr/>
        </p:nvSpPr>
        <p:spPr>
          <a:xfrm>
            <a:off x="621792" y="3950208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보정을 바꾸면 인식을 다시 돌리지 않고 재투영만 수행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마스킹 → 재투영 → 차로 정렬 → 등록의 순서를 표준화 (순서가 결과를 좌우)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 산출물은 압축 재생 파일(.json.gz)로 저장되어 단계별 비교 실험 가능</a:t>
            </a:r>
            <a:endParaRPr lang="en-US" sz="1000" dirty="0"/>
          </a:p>
        </p:txBody>
      </p:sp>
      <p:sp>
        <p:nvSpPr>
          <p:cNvPr id="61" name="Shape 54"/>
          <p:cNvSpPr/>
          <p:nvPr/>
        </p:nvSpPr>
        <p:spPr>
          <a:xfrm>
            <a:off x="6217920" y="3703320"/>
            <a:ext cx="5559552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6382512" y="3557016"/>
            <a:ext cx="2034540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63" name="Text 56"/>
          <p:cNvSpPr/>
          <p:nvPr/>
        </p:nvSpPr>
        <p:spPr>
          <a:xfrm>
            <a:off x="6382512" y="3557016"/>
            <a:ext cx="203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한 대 추가 절차</a:t>
            </a:r>
            <a:endParaRPr lang="en-US" sz="1000" dirty="0"/>
          </a:p>
        </p:txBody>
      </p:sp>
      <p:sp>
        <p:nvSpPr>
          <p:cNvPr id="64" name="Text 57"/>
          <p:cNvSpPr/>
          <p:nvPr/>
        </p:nvSpPr>
        <p:spPr>
          <a:xfrm>
            <a:off x="6400800" y="3950208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영상 확보 — 공공 스트림에서 클립·스냅샷 캡처</a:t>
            </a:r>
            <a:endParaRPr lang="en-US" sz="1000" dirty="0"/>
          </a:p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위치 보정 — 자동 보정 후 기준점 1~3점으로 마무리</a:t>
            </a:r>
            <a:endParaRPr lang="en-US" sz="1000" dirty="0"/>
          </a:p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오탐 마스크 — 화면에 새겨진 글자를 사람이 승인 후 제외</a:t>
            </a:r>
            <a:endParaRPr lang="en-US" sz="1000" dirty="0"/>
          </a:p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차로 정렬 — 궤적을 정밀도로지도 차로에 정렬</a:t>
            </a:r>
            <a:endParaRPr lang="en-US" sz="1000" dirty="0"/>
          </a:p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등록 — 웹 지도 마커 갱신 + DB 적재</a:t>
            </a:r>
            <a:endParaRPr lang="en-US" sz="1000" dirty="0"/>
          </a:p>
        </p:txBody>
      </p:sp>
      <p:sp>
        <p:nvSpPr>
          <p:cNvPr id="65" name="Shape 58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66" name="Text 59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→ 객체 탐지 → 지도 3D → DB 저장 → LLM 질의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 전 과정이 하나의 저장소에서 자동화</a:t>
            </a:r>
            <a:endParaRPr lang="en-US" sz="1250" dirty="0"/>
          </a:p>
        </p:txBody>
      </p:sp>
      <p:sp>
        <p:nvSpPr>
          <p:cNvPr id="67" name="Shape 60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68" name="Text 61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Ⅱ-1.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정밀도로지도를 화면·지도에 일치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 단위 국가 지도를 자르고, 방향을 검증하고, 화면에 되그려 확인한다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" y="1289304"/>
            <a:ext cx="4736592" cy="3438144"/>
          </a:xfrm>
          <a:prstGeom prst="roundRect">
            <a:avLst>
              <a:gd name="adj" fmla="val 1064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pic>
        <p:nvPicPr>
          <p:cNvPr id="19" name="Image 0" descr="img/lane_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25880"/>
            <a:ext cx="4663440" cy="31089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0352" y="44531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 중심선(노랑)을 판교 CCTV 화면에 되그린 검수 화면 — 도로 선형과 맞물림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4892040"/>
            <a:ext cx="4901184" cy="1188720"/>
          </a:xfrm>
          <a:prstGeom prst="roundRect">
            <a:avLst>
              <a:gd name="adj" fmla="val 3846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5010912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게이트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차선이 도로에 얹히는지 눈으로 먼저 확인 — 통과하지 못하면 자동 정합·기준점 재작업으로 되돌린다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69280" y="1325880"/>
            <a:ext cx="610819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97296" y="1828800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5" name="Image 1" descr="icons/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903" y="1933407"/>
            <a:ext cx="266273" cy="26627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82512" y="139903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필요한 구간만 잘라 병합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382512" y="1664208"/>
            <a:ext cx="52669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국토정보플랫폼 배포 지도(차선 단위) 중 카메라 반경 800m만 잘라 6개 배포본을 병합, 웹 형식으로 경량 변환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669280" y="2953512"/>
            <a:ext cx="610819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797296" y="3456432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0" name="Image 2" descr="icons/compas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903" y="3561039"/>
            <a:ext cx="266273" cy="26627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382512" y="3026664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주행 방향 자체 검증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6382512" y="3291840"/>
            <a:ext cx="52669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 선의 그리기 방향 = 주행 방향 규약을 교차점 좌표로 검증, 뒤집힌 선은 교정 — 6개 데이터셋 역방향 0건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669280" y="4581144"/>
            <a:ext cx="610819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797296" y="5084064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5" name="Image 3" descr="icons/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903" y="5188671"/>
            <a:ext cx="266273" cy="26627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382512" y="465429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기준은 항상 정밀지도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6382512" y="4919472"/>
            <a:ext cx="52669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정밀지도는 cm급 측량 성과이므로 기준으로 고정 — 위성영상 쪽 편위는 노면 무늬 비교로 측정해 표시용으로만 보정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39" name="Text 33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정밀도로지도가 기준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지도 데이터는 건드리지 않고, 화면 검수로 일치를 보증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41" name="Text 35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Ⅱ-2.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 안에서 자연스럽게 움직이기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떨리는 인식 좌표를 세 겹의 처리로 차선 위 부드러운 주행으로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3712464" cy="370332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" y="1517904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0" name="Image 0" descr="icons/rout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391" y="1622511"/>
            <a:ext cx="266273" cy="2662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5179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 결정 — 트랙 전체를 한 번에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94360" y="2212848"/>
            <a:ext cx="3364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프레임마다 가까운 차선을 고르면 나란한 차선 사이를 깜빡인다 (실측: 점의 16%가 1m 안쪽 엉뚱한 차선에 부착).</a:t>
            </a:r>
            <a:endParaRPr lang="en-US" sz="93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트랙 전체를 보고 가장 그럴듯한 차선 경로를 확률적으로 한 번에 결정.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594360" y="4005072"/>
            <a:ext cx="3346704" cy="7315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4096512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 깜빡임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94360" y="431596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63~90% ↓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288536" y="1371600"/>
            <a:ext cx="3712464" cy="370332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434840" y="1517904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8" name="Image 1" descr="icons/magne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447" y="1622511"/>
            <a:ext cx="266273" cy="266273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01768" y="15179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 고정 — 이탈의 구조적 차단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4471416" y="2212848"/>
            <a:ext cx="3364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도로로 실제 이어지는 가장 긴 차선 사슬에 트랙을 고정하고, 진행거리로 위치를 재계산.</a:t>
            </a:r>
            <a:endParaRPr lang="en-US" sz="93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뒤로 가는 움직임은 정리하고 속도는 평활 후 다시 적분.</a:t>
            </a:r>
            <a:endParaRPr lang="en-US" sz="930" dirty="0"/>
          </a:p>
        </p:txBody>
      </p:sp>
      <p:sp>
        <p:nvSpPr>
          <p:cNvPr id="31" name="Shape 27"/>
          <p:cNvSpPr/>
          <p:nvPr/>
        </p:nvSpPr>
        <p:spPr>
          <a:xfrm>
            <a:off x="4471416" y="4005072"/>
            <a:ext cx="3346704" cy="7315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32" name="Text 28"/>
          <p:cNvSpPr/>
          <p:nvPr/>
        </p:nvSpPr>
        <p:spPr>
          <a:xfrm>
            <a:off x="4471416" y="4096512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건너뜀 29→0 · 떨림 122→0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4471416" y="431596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변화 10.8→2.16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8165592" y="1371600"/>
            <a:ext cx="3712464" cy="370332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311896" y="1517904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6" name="Image 2" descr="icons/play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503" y="1622511"/>
            <a:ext cx="266273" cy="266273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878824" y="15179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 보간 — 부드러운 화면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8348472" y="2212848"/>
            <a:ext cx="3364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30fps 결과를 화면 주사율로 곡선 보간(위치)·최단 회전(방향).</a:t>
            </a:r>
            <a:endParaRPr lang="en-US" sz="93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위치를 바꾸지 않음을 5,503개 지점 오차 0.000000m로 검증.</a:t>
            </a:r>
            <a:endParaRPr lang="en-US" sz="93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시속 200km 초과 순간이동은 트랙 분리.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8348472" y="4005072"/>
            <a:ext cx="3346704" cy="7315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40" name="Text 35"/>
          <p:cNvSpPr/>
          <p:nvPr/>
        </p:nvSpPr>
        <p:spPr>
          <a:xfrm>
            <a:off x="8348472" y="4096512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원위치 재현 오차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8348472" y="431596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0.000000 m</a:t>
            </a:r>
            <a:endParaRPr lang="en-US" sz="1600" dirty="0"/>
          </a:p>
        </p:txBody>
      </p:sp>
      <p:sp>
        <p:nvSpPr>
          <p:cNvPr id="42" name="Shape 37"/>
          <p:cNvSpPr/>
          <p:nvPr/>
        </p:nvSpPr>
        <p:spPr>
          <a:xfrm>
            <a:off x="411480" y="5257800"/>
            <a:ext cx="11365992" cy="841248"/>
          </a:xfrm>
          <a:prstGeom prst="roundRect">
            <a:avLst>
              <a:gd name="adj" fmla="val 5435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21792" y="525780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정직한 표시 원칙  </a:t>
            </a:r>
            <a:pPr indent="0" marL="0"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정보가 없는 차량은 임의 방향으로 세우지 않고 그리지 않는다 — 없는 정보를 있는 것처럼 보여주지 않기 위한 설계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45" name="Text 40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 건너뜀 29→0건 · 앞뒤 떨림 122→0건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이탈이 일어날 수 없는 구조</a:t>
            </a:r>
            <a:endParaRPr lang="en-US" sz="1250" dirty="0"/>
          </a:p>
        </p:txBody>
      </p:sp>
      <p:sp>
        <p:nvSpPr>
          <p:cNvPr id="46" name="Shape 41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47" name="Text 42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Ⅱ-3.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CCTV를 실측 위치에 올리기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좌표 대신, 보정으로 확정한 원점을 카메라 위치로 사용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598932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" y="1856232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0" name="Image 0" descr="icons/crosshai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03" y="1960839"/>
            <a:ext cx="266273" cy="2662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44475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기준점 6쌍 확보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24712" y="1709928"/>
            <a:ext cx="51480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화면의 노면 특징점(정지선 끝·차선 끝점)과 위성지도·정밀지도의 같은 지점을 6쌍 짝지어 클릭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 rot="5400000">
            <a:off x="3108960" y="2798064"/>
            <a:ext cx="237744" cy="237744"/>
          </a:xfrm>
          <a:prstGeom prst="chevron">
            <a:avLst/>
          </a:prstGeom>
          <a:solidFill>
            <a:srgbClr val="0E7A6A"/>
          </a:solidFill>
          <a:ln/>
        </p:spPr>
      </p:sp>
      <p:sp>
        <p:nvSpPr>
          <p:cNvPr id="24" name="Shape 21"/>
          <p:cNvSpPr/>
          <p:nvPr/>
        </p:nvSpPr>
        <p:spPr>
          <a:xfrm>
            <a:off x="411480" y="2971800"/>
            <a:ext cx="598932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9496" y="3456432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6" name="Image 1" descr="icons/arrow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03" y="3561039"/>
            <a:ext cx="266273" cy="26627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24712" y="304495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화면 ↔ 실좌표 변환식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1124712" y="3310128"/>
            <a:ext cx="51480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6쌍으로 화면 픽셀→실좌표(UTM) 변환식을 계산 — 판교는 자동 보정 위에 기준점으로 마무리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 rot="5400000">
            <a:off x="3108960" y="4398264"/>
            <a:ext cx="237744" cy="237744"/>
          </a:xfrm>
          <a:prstGeom prst="chevron">
            <a:avLst/>
          </a:prstGeom>
          <a:solidFill>
            <a:srgbClr val="0E7A6A"/>
          </a:solidFill>
          <a:ln/>
        </p:spPr>
      </p:sp>
      <p:sp>
        <p:nvSpPr>
          <p:cNvPr id="30" name="Shape 26"/>
          <p:cNvSpPr/>
          <p:nvPr/>
        </p:nvSpPr>
        <p:spPr>
          <a:xfrm>
            <a:off x="411480" y="4572000"/>
            <a:ext cx="598932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39496" y="5056632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2" name="Image 2" descr="icons/pi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" y="5161239"/>
            <a:ext cx="266273" cy="266273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124712" y="464515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변환 원점 = 마커 좌표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1124712" y="4910328"/>
            <a:ext cx="51480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변환식의 기준 원점을 경위도로 되돌린 값이 지도 위 카메라 위치 — 실측에 근거한 좌표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675120" y="1371600"/>
            <a:ext cx="5102352" cy="2377440"/>
          </a:xfrm>
          <a:prstGeom prst="roundRect">
            <a:avLst>
              <a:gd name="adj" fmla="val 1923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839712" y="1225296"/>
            <a:ext cx="1106424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37" name="Text 32"/>
          <p:cNvSpPr/>
          <p:nvPr/>
        </p:nvSpPr>
        <p:spPr>
          <a:xfrm>
            <a:off x="6839712" y="1225296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필요한가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6903720" y="1691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 API가 주는 카메라 좌표의 실측 오차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6903720" y="19659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 ~ 793 m</a:t>
            </a:r>
            <a:endParaRPr lang="en-US" sz="4000" dirty="0"/>
          </a:p>
        </p:txBody>
      </p:sp>
      <p:sp>
        <p:nvSpPr>
          <p:cNvPr id="40" name="Text 35"/>
          <p:cNvSpPr/>
          <p:nvPr/>
        </p:nvSpPr>
        <p:spPr>
          <a:xfrm>
            <a:off x="6903720" y="2788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좌표를 그대로 쓰면 카메라가 엉뚱한 도로 위에 놓인다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보정이 끝난 카메라는 마커 좌표를 보정 원점으로 교체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675120" y="3977640"/>
            <a:ext cx="5102352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6839712" y="3831336"/>
            <a:ext cx="1371600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3" name="Text 38"/>
          <p:cNvSpPr/>
          <p:nvPr/>
        </p:nvSpPr>
        <p:spPr>
          <a:xfrm>
            <a:off x="6839712" y="3831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마커 관리 규칙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6876288" y="4224528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카메라는 마커 갱신에서 항상 보존 — 절대 지워지지 않음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같거나 250m 이내의 API 마커는 자동 제거 — 같은 카메라가 두 위치에 뜨는 문제 차단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완료(청록·이름표) / 미분석(파랑) 마커를 색으로 구분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46" name="Text 41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 보이는 카메라 위치는 API 값이 아니라 </a:t>
            </a:r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보정의 결과</a:t>
            </a:r>
            <a:endParaRPr lang="en-US" sz="1250" dirty="0"/>
          </a:p>
        </p:txBody>
      </p:sp>
      <p:sp>
        <p:nvSpPr>
          <p:cNvPr id="47" name="Shape 42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48" name="Text 43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Ⅲ-1.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고해상 위성지도 위 이동체 구현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Esri·Maxar·CNES/Airbus 위성영상 위에서 3D 차량이 달린다 (MapLibre)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630936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" y="1874520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0" name="Image 0" descr="icons/wor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03" y="1979127"/>
            <a:ext cx="266273" cy="2662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444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바탕 지도 2종 — 인증 불필요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24712" y="1709928"/>
            <a:ext cx="54681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기본: Esri World Imagery (Esri · Maxar · Earthstar Geographics · CNES/Airbus DS 고해상 영상 — 차선까지 판독)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보조: Sentinel-2 무운량 영상, 클릭 한 번으로 전환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2999232"/>
            <a:ext cx="630936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9496" y="3502152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5" name="Image 1" descr="icons/box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03" y="3606759"/>
            <a:ext cx="266273" cy="26627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24712" y="3072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지도와 한 몸인 3D 오버레이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1124712" y="3337560"/>
            <a:ext cx="54681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렌더러와 깊이 정보를 공유하는 3D 층(deck.gl)에 차량 모형을 그림 — 3D 실패 환경에서는 바닥 사각형을 세우는 지도 내장 방식으로 자동 전환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4626864"/>
            <a:ext cx="630936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39496" y="5129784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0" name="Image 2" descr="icons/ca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" y="5234391"/>
            <a:ext cx="266273" cy="26627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24712" y="4700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만든 차량 모형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24712" y="4965192"/>
            <a:ext cx="54681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3D 파일 없이 차체+운전석, 전조등 2개, 미등 2개를 코드로 생성 — 저작권·다운로드 부담 없음, 방향 규약 공유로 앞면이 항상 진행 방향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7050024" y="1380744"/>
            <a:ext cx="4553712" cy="2688336"/>
          </a:xfrm>
          <a:prstGeom prst="roundRect">
            <a:avLst>
              <a:gd name="adj" fmla="val 1361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pic>
        <p:nvPicPr>
          <p:cNvPr id="34" name="Image 3" descr="img/ne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417320"/>
            <a:ext cx="4480560" cy="235915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086600" y="379476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부감 시점의 CCTV 화면 — 이 차량들이 지도 위 3D 모형으로 재현된다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6967728" y="4206240"/>
            <a:ext cx="4718304" cy="1874520"/>
          </a:xfrm>
          <a:prstGeom prst="roundRect">
            <a:avLst>
              <a:gd name="adj" fmla="val 2439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132320" y="4059936"/>
            <a:ext cx="2432304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38" name="Text 32"/>
          <p:cNvSpPr/>
          <p:nvPr/>
        </p:nvSpPr>
        <p:spPr>
          <a:xfrm>
            <a:off x="7132320" y="405993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차종별 실측 크기 적용 (m)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7178040" y="4526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승용차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7178040" y="47457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4.4 × 1.8 × 1.5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9390888" y="4526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승합차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9390888" y="47457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 × 1.9 × 2.0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7178040" y="51846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트럭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7178040" y="54041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8.0 × 2.5 × 3.1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9390888" y="51846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9390888" y="54041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11.0 × 2.5 × 3.4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48" name="Text 42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토큰·비용 없는 공개 고해상 지도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위에 실측 크기의 3D 차량을 그린다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50" name="Text 44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Ⅲ-2.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CCTV 연결과 위치 오차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공공 영상(HLS)을 마커로 — 좌표 오차는 측정하고 대체한다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59893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" y="1645920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0" name="Image 0" descr="icons/downloa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03" y="1750527"/>
            <a:ext cx="266273" cy="2662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44475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공공 API 호출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24712" y="1709928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영역 좌표 범위를 지정해 국가교통정보센터(ITS) API 호출 — 고속도로·국도를 각각 받아 병합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2514600"/>
            <a:ext cx="59893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9496" y="2788920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5" name="Image 1" descr="icons/video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03" y="2893527"/>
            <a:ext cx="266273" cy="26627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24712" y="258775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실시간 주소 확보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1124712" y="2852928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카메라별 실시간 스트리밍 주소(HLS, .m3u8)와 이름·좌표를 수신 — 서울은 TOPIS(약 510대, 인증 불필요)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3657600"/>
            <a:ext cx="59893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39496" y="3931920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0" name="Image 2" descr="icons/pi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" y="4036527"/>
            <a:ext cx="266273" cy="26627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24712" y="373075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지도 마커 표출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24712" y="3995928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GeoJSON으로 저장해 지도에 표시 — 분석 완료 카메라만 클릭 시 이중 패널 재생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93776" y="4791456"/>
            <a:ext cx="1929384" cy="1307592"/>
          </a:xfrm>
          <a:prstGeom prst="roundRect">
            <a:avLst>
              <a:gd name="adj" fmla="val 2797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pic>
        <p:nvPicPr>
          <p:cNvPr id="34" name="Image 3" descr="img/song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828032"/>
            <a:ext cx="1856232" cy="12344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2606040" y="48920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송도IC CCTV — 공공 스트림에서 캡처한 화면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카메라는 기준점 4점 실측으로 보정되어 마커가 실제 설치 위치에 놓여 있다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6675120" y="1371600"/>
            <a:ext cx="5102352" cy="2560320"/>
          </a:xfrm>
          <a:prstGeom prst="roundRect">
            <a:avLst>
              <a:gd name="adj" fmla="val 1786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839712" y="1225296"/>
            <a:ext cx="2299716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38" name="Text 32"/>
          <p:cNvSpPr/>
          <p:nvPr/>
        </p:nvSpPr>
        <p:spPr>
          <a:xfrm>
            <a:off x="6839712" y="1225296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지도와 CCTV 위치의 오차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6903720" y="17373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제공 좌표 vs 실제 설치 위치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6903720" y="20116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793 m</a:t>
            </a:r>
            <a:endParaRPr lang="en-US" sz="3600" dirty="0"/>
          </a:p>
        </p:txBody>
      </p:sp>
      <p:sp>
        <p:nvSpPr>
          <p:cNvPr id="41" name="Text 35"/>
          <p:cNvSpPr/>
          <p:nvPr/>
        </p:nvSpPr>
        <p:spPr>
          <a:xfrm>
            <a:off x="6949440" y="2743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범위 93~793m — 마커를 그대로 믿을 수 없다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 오차의 정량 파악이 위치 보정 절차(Ⅴ장)의 출발점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6675120" y="4160520"/>
            <a:ext cx="5102352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6839712" y="4014216"/>
            <a:ext cx="973836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4" name="Text 38"/>
          <p:cNvSpPr/>
          <p:nvPr/>
        </p:nvSpPr>
        <p:spPr>
          <a:xfrm>
            <a:off x="6839712" y="4014216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체계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6876288" y="44348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 완료 카메라: 마커 좌표를 보정 원점으로 교체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미보정 카메라: 파란 마커로 구분, 클릭 시 안내만 표시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일치·250m 이내 중복 마커 자동 정리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47" name="Text 41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CCTV를 지도에 — </a:t>
            </a:r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오차를 아는 것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정확한 지도의 시작</a:t>
            </a:r>
            <a:endParaRPr lang="en-US" sz="1250" dirty="0"/>
          </a:p>
        </p:txBody>
      </p:sp>
      <p:sp>
        <p:nvSpPr>
          <p:cNvPr id="48" name="Shape 42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49" name="Text 43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Ⅲ-3.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— 영상·정밀지도 cm급 결합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TOPIS 공개 영상 + 정밀도로지도 측량 정점이 한 카메라에서 만난다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" y="1335024"/>
            <a:ext cx="4919472" cy="3557016"/>
          </a:xfrm>
          <a:prstGeom prst="roundRect">
            <a:avLst>
              <a:gd name="adj" fmla="val 1028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pic>
        <p:nvPicPr>
          <p:cNvPr id="19" name="Image 0" descr="img/sang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71600"/>
            <a:ext cx="4846320" cy="32278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0352" y="46177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상암 TOPIS CCTV — 인증 없이 접근 가능한 공개 실시간 영상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669280" y="1371600"/>
            <a:ext cx="61081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97296" y="18653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3" name="Image 1" descr="icons/video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903" y="1969983"/>
            <a:ext cx="266273" cy="26627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382512" y="144475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공개 영상 (서울 TOPIS)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382512" y="1709928"/>
            <a:ext cx="5266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키 없이 서울 시내 약 510대의 CCTV 목록과 실시간 주소(HLS)를 받아 등록 — 상암 카메라가 이 경로로 구축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669280" y="2971800"/>
            <a:ext cx="61081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797296" y="34655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8" name="Image 2" descr="icons/magne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903" y="3570183"/>
            <a:ext cx="266273" cy="266273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82512" y="304495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자석 스냅 — 지도 클릭을 측량 정점에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382512" y="3310128"/>
            <a:ext cx="5266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기준점 입력 시 지도 클릭이 15m 이내의 정밀지도 정점(횡단보도 모서리·정지선 끝 = 측량된 점)으로 자동 부착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669280" y="4572000"/>
            <a:ext cx="61081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797296" y="50657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3" name="Image 3" descr="icons/targe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903" y="5170383"/>
            <a:ext cx="266273" cy="26627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382512" y="464515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후보 안내 — 지도 클릭 단계 제거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6382512" y="4910328"/>
            <a:ext cx="5266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화면만 클릭하면 지도 좌표는 정밀지도의 측량 좌표를 그대로 사용 — 눈대중 클릭의 1~2m 오차가 통째로 사라져 기준점 정확도 = 지도 정확도(cm급)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411480" y="4892040"/>
            <a:ext cx="5029200" cy="1188720"/>
          </a:xfrm>
          <a:prstGeom prst="roundRect">
            <a:avLst>
              <a:gd name="adj" fmla="val 3846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85216" y="5001768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공공 영상과 국가 측량 성과가 한 카메라 화면에서 결합 — cm급 기준 위에 교통을 재현하는 도시형 디지털 트윈의 최소 단위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39" name="Text 33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손끝의 오차를 제거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하면, 기준점의 정확도는 지도의 정확도(cm급)가 된다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41" name="Text 35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Ⅳ-1.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탐지 — 기존 방식과 고도화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부감 시점 특화 모델 + 화면 분할 인식으로 원거리 소형차까지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5120640" cy="1965960"/>
          </a:xfrm>
          <a:prstGeom prst="roundRect">
            <a:avLst>
              <a:gd name="adj" fmla="val 2326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" y="1225296"/>
            <a:ext cx="1106424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225296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어려운가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" y="166420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 CCTV는 비스듬한 부감 시점 — 원거리 차량은 화면에서 11×8픽셀 수준으로 축소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사물 데이터(COCO)로 학습한 모델 + 화면 전체 인식 방식은 이런 소형 객체를 대부분 놓침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520440"/>
            <a:ext cx="512064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" y="3374136"/>
            <a:ext cx="1239012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3374136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고도화 두 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" y="3813048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교체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드론·부감 영상 데이터(VisDrone)로 미세조정한 모델로 시점 특성을 일치</a:t>
            </a:r>
            <a:endParaRPr lang="en-US" sz="100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인식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384px 조각으로 20% 겹치게 잘라 조각마다 인식 후 병합(SAHI) — 원거리 소형차 보존</a:t>
            </a:r>
            <a:endParaRPr lang="en-US" sz="100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문턱 완화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확신 문턱값을 소형 객체에 맞게 0.35 → 0.2로 조정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06440" y="1371600"/>
            <a:ext cx="5971032" cy="4709160"/>
          </a:xfrm>
          <a:prstGeom prst="roundRect">
            <a:avLst>
              <a:gd name="adj" fmla="val 97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71032" y="1225296"/>
            <a:ext cx="2194560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28" name="Text 26"/>
          <p:cNvSpPr/>
          <p:nvPr/>
        </p:nvSpPr>
        <p:spPr>
          <a:xfrm>
            <a:off x="5971032" y="12252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클립 450프레임 비교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1783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· 일반 모델 + 전체 화면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915400" y="1783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고도화 · 부감 모델 + 분할 인식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2148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수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4944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1,830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796528" y="2423160"/>
            <a:ext cx="274320" cy="274320"/>
          </a:xfrm>
          <a:prstGeom prst="chevron">
            <a:avLst/>
          </a:prstGeom>
          <a:solidFill>
            <a:srgbClr val="0E7A6A"/>
          </a:solidFill>
          <a:ln/>
        </p:spPr>
      </p:sp>
      <p:sp>
        <p:nvSpPr>
          <p:cNvPr id="34" name="Text 32"/>
          <p:cNvSpPr/>
          <p:nvPr/>
        </p:nvSpPr>
        <p:spPr>
          <a:xfrm>
            <a:off x="909828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7,904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0927080" y="2350008"/>
            <a:ext cx="731520" cy="402336"/>
          </a:xfrm>
          <a:prstGeom prst="roundRect">
            <a:avLst>
              <a:gd name="adj" fmla="val 50000"/>
            </a:avLst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27080" y="23500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4.3배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3044952"/>
            <a:ext cx="5440680" cy="7315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31089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상자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49440" y="3108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1,093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8796528" y="3383280"/>
            <a:ext cx="274320" cy="274320"/>
          </a:xfrm>
          <a:prstGeom prst="chevron">
            <a:avLst/>
          </a:prstGeom>
          <a:solidFill>
            <a:srgbClr val="0E7A6A"/>
          </a:solidFill>
          <a:ln/>
        </p:spPr>
      </p:sp>
      <p:sp>
        <p:nvSpPr>
          <p:cNvPr id="41" name="Text 39"/>
          <p:cNvSpPr/>
          <p:nvPr/>
        </p:nvSpPr>
        <p:spPr>
          <a:xfrm>
            <a:off x="9098280" y="3108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6,288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10927080" y="3310128"/>
            <a:ext cx="731520" cy="402336"/>
          </a:xfrm>
          <a:prstGeom prst="roundRect">
            <a:avLst>
              <a:gd name="adj" fmla="val 50000"/>
            </a:avLst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27080" y="331012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5.8배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4005072"/>
            <a:ext cx="5440680" cy="7315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45" name="Text 43"/>
          <p:cNvSpPr/>
          <p:nvPr/>
        </p:nvSpPr>
        <p:spPr>
          <a:xfrm>
            <a:off x="6126480" y="4069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유지된 트랙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949440" y="4069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8796528" y="4343400"/>
            <a:ext cx="274320" cy="274320"/>
          </a:xfrm>
          <a:prstGeom prst="chevron">
            <a:avLst/>
          </a:prstGeom>
          <a:solidFill>
            <a:srgbClr val="0E7A6A"/>
          </a:solidFill>
          <a:ln/>
        </p:spPr>
      </p:sp>
      <p:sp>
        <p:nvSpPr>
          <p:cNvPr id="48" name="Text 46"/>
          <p:cNvSpPr/>
          <p:nvPr/>
        </p:nvSpPr>
        <p:spPr>
          <a:xfrm>
            <a:off x="9098280" y="4069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152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10927080" y="4270248"/>
            <a:ext cx="731520" cy="402336"/>
          </a:xfrm>
          <a:prstGeom prst="roundRect">
            <a:avLst>
              <a:gd name="adj" fmla="val 50000"/>
            </a:avLst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27080" y="42702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6.3배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26480" y="5257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검출이 늘어난 것과 정확한 것은 다르다 — 정답 라벨 기반 검증은 다음 장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영상에서 검출 4.3배 · 트랙 6.3배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원거리 소형차가 살아난다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55" name="Text 53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Ⅳ-2.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제거와 정량 검증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 새겨진 글자 오탐을 사람 승인으로 제거 — 정답 라벨로 채점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" y="1335024"/>
            <a:ext cx="4919472" cy="3557016"/>
          </a:xfrm>
          <a:prstGeom prst="roundRect">
            <a:avLst>
              <a:gd name="adj" fmla="val 1028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pic>
        <p:nvPicPr>
          <p:cNvPr id="19" name="Image 0" descr="img/staticm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71600"/>
            <a:ext cx="4846320" cy="32278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0352" y="46177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 새겨진 지점명 글자(붉은 상자)를 오탐 후보로 제시 — 사람이 승인해야 제외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4892040"/>
            <a:ext cx="5029200" cy="1188720"/>
          </a:xfrm>
          <a:prstGeom prst="roundRect">
            <a:avLst>
              <a:gd name="adj" fmla="val 3846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" y="5001768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절차가 사고를 막았다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상암 카메라의 후보 5개는 모두 신호 대기 차량 — 전부 기각되어 실차 삭제를 방지 (자동 확정하지 않는 이유)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806440" y="1371600"/>
            <a:ext cx="5971032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71032" y="1225296"/>
            <a:ext cx="1371600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25" name="Text 22"/>
          <p:cNvSpPr/>
          <p:nvPr/>
        </p:nvSpPr>
        <p:spPr>
          <a:xfrm>
            <a:off x="5971032" y="1225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걸러내나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989320" y="1645920"/>
            <a:ext cx="5623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 글자 오탐  </a:t>
            </a:r>
            <a:pPr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영상에 새겨진 지점명·방면 글자를 차량으로 오인 — 전체 검출의 11.8%</a:t>
            </a:r>
            <a:endParaRPr lang="en-US" sz="1000" dirty="0"/>
          </a:p>
          <a:p>
            <a:pPr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 밖 검출  </a:t>
            </a:r>
            <a:pPr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 영역 필터로 화단·간판 등 도로 밖 오탐 19% 제거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06440" y="3383280"/>
            <a:ext cx="5971032" cy="269748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71032" y="3236976"/>
            <a:ext cx="2432304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29" name="Text 26"/>
          <p:cNvSpPr/>
          <p:nvPr/>
        </p:nvSpPr>
        <p:spPr>
          <a:xfrm>
            <a:off x="5971032" y="323697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라벨 채점 결과 (판교)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035040" y="3703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오탐(FP)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035040" y="3941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pPr algn="ctr" indent="0" marL="0">
              <a:buNone/>
            </a:pPr>
            <a:r>
              <a:rPr lang="en-US" sz="12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algn="ctr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006840" y="3703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정밀도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9006840" y="3941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0.394</a:t>
            </a:r>
            <a:pPr algn="ctr" indent="0" marL="0">
              <a:buNone/>
            </a:pPr>
            <a:r>
              <a:rPr lang="en-US" sz="12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algn="ctr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0.683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035040" y="4818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추적 점수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035040" y="5056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−0.362</a:t>
            </a:r>
            <a:pPr algn="ctr" indent="0" marL="0">
              <a:buNone/>
            </a:pPr>
            <a:r>
              <a:rPr lang="en-US" sz="12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algn="ctr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+0.277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006840" y="4818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재현율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9006840" y="5056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0.596</a:t>
            </a:r>
            <a:pPr algn="ctr" indent="0" marL="0">
              <a:buNone/>
            </a:pPr>
            <a:r>
              <a:rPr lang="en-US" sz="12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algn="ctr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0.596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006840" y="55321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동일 = 실차는 하나도 안 지웠다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40" name="Text 37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정밀도 0.39 → 0.68, 재현율은 그대로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오탐만 정확히 제거했음을 수치로 증명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42" name="Text 39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Ⅴ-1.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캘리브레이션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0점의 자동 보정에서 기준점 마무리까지 — 3단계 스펙트럼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" y="18653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0" name="Image 0" descr="icons/wan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03" y="1969983"/>
            <a:ext cx="266273" cy="2662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444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완전 자동 (클릭 0점)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24712" y="1709928"/>
            <a:ext cx="5468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차선이 화면에서 한 점으로 모이는 성질(소실점)로 카메라 기울기·방향을 추정, 도로 방위는 공개 지도에서 — 정확도 약 20m의 출발점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29718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9496" y="34655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5" name="Image 1" descr="icons/refres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03" y="3570183"/>
            <a:ext cx="266273" cy="26627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24712" y="3044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노면표시 자동 정합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1124712" y="3310128"/>
            <a:ext cx="5468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 지나다닌 영역만 남긴 배경 화면에서 차선 페인트를 추출, 정밀지도의 노면표시와 형상을 맞춰 변환식을 정밀화 — 정합 오차 17.26 → 8.54px (27.9% 개선)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45720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39496" y="50657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0" name="Image 2" descr="icons/crosshai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" y="5170383"/>
            <a:ext cx="266273" cy="26627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24712" y="4645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기준점 1~3점 마무리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24712" y="4910328"/>
            <a:ext cx="5468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결과 위에 사람이 기준점 1점(평행이동)~3점(회전·축척 보정)만 찍으면 완성 — 4점 이상은 전체 재계산이라 자동 결과가 버려짐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7050024" y="1335024"/>
            <a:ext cx="4553712" cy="3319272"/>
          </a:xfrm>
          <a:prstGeom prst="roundRect">
            <a:avLst>
              <a:gd name="adj" fmla="val 1102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pic>
        <p:nvPicPr>
          <p:cNvPr id="34" name="Image 3" descr="img/autocali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371600"/>
            <a:ext cx="4480560" cy="29900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086600" y="43799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정합 검증 — 하늘색: 영상 차선 / 빨강: 정합 전 / 초록: 정합 후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6967728" y="4800600"/>
            <a:ext cx="4718304" cy="1298448"/>
          </a:xfrm>
          <a:prstGeom prst="roundRect">
            <a:avLst>
              <a:gd name="adj" fmla="val 3521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132320" y="4654296"/>
            <a:ext cx="1371600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38" name="Text 32"/>
          <p:cNvSpPr/>
          <p:nvPr/>
        </p:nvSpPr>
        <p:spPr>
          <a:xfrm>
            <a:off x="7132320" y="4654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스펙트럼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7132320" y="5047488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0점 ≈ 20m  →  하이브리드 1~3점  →  수동 6~8점 (교차검증 1m 이하 목표)</a:t>
            </a:r>
            <a:endParaRPr lang="en-US" sz="950" dirty="0"/>
          </a:p>
          <a:p>
            <a:pPr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 진단 내장 — 비용 곡면이 평탄하면 "결과를 믿지 말라"고 스스로 보고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41" name="Text 35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자동은 거친 정렬까지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마지막 정밀도는 기준점 1~3점이 완성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43" name="Text 37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Ⅴ-2.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기준점(GT) 작업 가이드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 어디에, 몇 개나 찍어야 하는가 — 도구가 실시간으로 안내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" y="18653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0" name="Image 0" descr="icons/ale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03" y="1969983"/>
            <a:ext cx="266273" cy="2662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444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4점의 함정 — 6점 이상 + 교차검증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24712" y="1709928"/>
            <a:ext cx="5468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4점은 계산상 오차가 항상 0으로 나와 검증 불가 → 6점 이상을 요구하고, 한 점을 빼고 예측해 보는 교차검증 오차를 '진짜 정확도'로 표시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29718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9496" y="34655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5" name="Image 1" descr="icons/gri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03" y="3570183"/>
            <a:ext cx="266273" cy="26627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24712" y="3044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화면 9구역 분포 — 먼 거리가 핵심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1124712" y="3310128"/>
            <a:ext cx="5468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원근 3구간×좌우 3구간에 고르게 — 같은 7점도 세로 분포 52%면 오차 4.47m, 2%로 뭉치면 52.88m (12배 악화). 빈 구역을 실시간으로 지목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45720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39496" y="50657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0" name="Image 2" descr="icons/ey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" y="5170383"/>
            <a:ext cx="266273" cy="26627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24712" y="4645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되그려 확인 + 타당성 검사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24712" y="4910328"/>
            <a:ext cx="5468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저장된 변환식으로 차로 폭 3.5m·깊이 10m 격자를 화면에 되그려 육안 대조. 변환식을 분해해 나온 카메라 높이가 현실적인지(지주 10~15m) 자동 판정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7050024" y="1335024"/>
            <a:ext cx="4553712" cy="3319272"/>
          </a:xfrm>
          <a:prstGeom prst="roundRect">
            <a:avLst>
              <a:gd name="adj" fmla="val 1102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pic>
        <p:nvPicPr>
          <p:cNvPr id="34" name="Image 3" descr="img/gcp_c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371600"/>
            <a:ext cx="4480560" cy="29900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086600" y="43799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지점 자동 추천 — 정지선 끝·횡단보도 모서리 등 지면 위 모서리형 특징에 번호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6967728" y="4800600"/>
            <a:ext cx="4718304" cy="1298448"/>
          </a:xfrm>
          <a:prstGeom prst="roundRect">
            <a:avLst>
              <a:gd name="adj" fmla="val 3521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150608" y="48920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진단 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타당성 검사 기준 등록 카메라 5대 중 4대가 재작업 대상 — 기준점 작업이 이후 모든 개선의 선행조건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39" name="Text 33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잔차 0은 정확도가 아니다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교차검증과 분포·타당성 진단이 진짜 품질을 말한다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41" name="Text 35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Ⅵ-1.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정면·후면을 구분하는 방법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2D 인식 상자에는 없는 '차의 앞뒤'를 세 단계로 복원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" y="18653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0" name="Image 0" descr="icons/tren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03" y="1969983"/>
            <a:ext cx="266273" cy="2662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444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움직임에서 방향 읽기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24712" y="1709928"/>
            <a:ext cx="5468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궤적 8점에 직선을 맞추고 변위 부호로 앞뒤 결정 — 순간 떨림은 속도 적응 평활과 프레임당 5° 회전 제한으로 억제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29718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9496" y="34655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5" name="Image 1" descr="icons/compas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03" y="3570183"/>
            <a:ext cx="266273" cy="26627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24712" y="3044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정지·가림은 차선 방향으로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1124712" y="3310128"/>
            <a:ext cx="5468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궤적이 없는 정지·가림 차량은 차선 방향 사전 정보를 사용 — 관측이 돌아오면 부드럽게 복귀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45720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39496" y="50657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0" name="Image 2" descr="icons/roa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" y="5170383"/>
            <a:ext cx="266273" cy="26627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24712" y="4645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차로의 방향 = 주행 방향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24712" y="4910328"/>
            <a:ext cx="5468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정밀지도 차로 선은 그리기 방향이 곧 주행 방향 (6개 데이터셋 역방향 0건 검증) — 차로에 정렬되면 서 있는 차도 정면이 확정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7086600" y="1371600"/>
            <a:ext cx="4690872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251192" y="1225296"/>
            <a:ext cx="1901952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35" name="Text 30"/>
          <p:cNvSpPr/>
          <p:nvPr/>
        </p:nvSpPr>
        <p:spPr>
          <a:xfrm>
            <a:off x="7251192" y="122529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모형에서 앞뒤가 보인다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7589520" y="192024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17375E"/>
          </a:solidFill>
          <a:ln/>
        </p:spPr>
      </p:sp>
      <p:sp>
        <p:nvSpPr>
          <p:cNvPr id="37" name="Shape 32"/>
          <p:cNvSpPr/>
          <p:nvPr/>
        </p:nvSpPr>
        <p:spPr>
          <a:xfrm>
            <a:off x="7726680" y="2423160"/>
            <a:ext cx="274320" cy="27432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38" name="Shape 33"/>
          <p:cNvSpPr/>
          <p:nvPr/>
        </p:nvSpPr>
        <p:spPr>
          <a:xfrm>
            <a:off x="8732520" y="2423160"/>
            <a:ext cx="274320" cy="27432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39" name="Text 34"/>
          <p:cNvSpPr/>
          <p:nvPr/>
        </p:nvSpPr>
        <p:spPr>
          <a:xfrm>
            <a:off x="7360920" y="28803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정면 — 전조등(노랑)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9784080" y="192024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17375E"/>
          </a:solidFill>
          <a:ln/>
        </p:spPr>
      </p:sp>
      <p:sp>
        <p:nvSpPr>
          <p:cNvPr id="41" name="Shape 36"/>
          <p:cNvSpPr/>
          <p:nvPr/>
        </p:nvSpPr>
        <p:spPr>
          <a:xfrm>
            <a:off x="9921240" y="242316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2" name="Shape 37"/>
          <p:cNvSpPr/>
          <p:nvPr/>
        </p:nvSpPr>
        <p:spPr>
          <a:xfrm>
            <a:off x="10927080" y="242316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3" name="Text 38"/>
          <p:cNvSpPr/>
          <p:nvPr/>
        </p:nvSpPr>
        <p:spPr>
          <a:xfrm>
            <a:off x="9555480" y="28803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후면 — 미등(빨강)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7315200" y="3246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운전석을 뒤로 치우친 실루엣 + 등화 색으로 진행 방향이 한눈에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7086600" y="4206240"/>
            <a:ext cx="4690872" cy="1874520"/>
          </a:xfrm>
          <a:prstGeom prst="roundRect">
            <a:avLst>
              <a:gd name="adj" fmla="val 2439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7251192" y="4059936"/>
            <a:ext cx="1371600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7" name="Text 42"/>
          <p:cNvSpPr/>
          <p:nvPr/>
        </p:nvSpPr>
        <p:spPr>
          <a:xfrm>
            <a:off x="7251192" y="4059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정렬 효과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726948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18.77°</a:t>
            </a:r>
            <a:pPr algn="ctr" indent="0" marL="0">
              <a:buNone/>
            </a:pPr>
            <a:r>
              <a:rPr lang="en-US" sz="11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pPr algn="ctr" indent="0" marL="0">
              <a:buNone/>
            </a:pPr>
            <a:r>
              <a:rPr lang="en-US" sz="1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1.94°</a:t>
            </a:r>
            <a:endParaRPr lang="en-US" sz="1300" dirty="0"/>
          </a:p>
        </p:txBody>
      </p:sp>
      <p:sp>
        <p:nvSpPr>
          <p:cNvPr id="49" name="Text 44"/>
          <p:cNvSpPr/>
          <p:nvPr/>
        </p:nvSpPr>
        <p:spPr>
          <a:xfrm>
            <a:off x="7269480" y="5029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방향 오차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955548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31건</a:t>
            </a:r>
            <a:pPr algn="ctr" indent="0" marL="0">
              <a:buNone/>
            </a:pPr>
            <a:r>
              <a:rPr lang="en-US" sz="11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pPr algn="ctr" indent="0" marL="0">
              <a:buNone/>
            </a:pPr>
            <a:r>
              <a:rPr lang="en-US" sz="1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1300" dirty="0"/>
          </a:p>
        </p:txBody>
      </p:sp>
      <p:sp>
        <p:nvSpPr>
          <p:cNvPr id="51" name="Text 46"/>
          <p:cNvSpPr/>
          <p:nvPr/>
        </p:nvSpPr>
        <p:spPr>
          <a:xfrm>
            <a:off x="9555480" y="5029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역방향 배치</a:t>
            </a:r>
            <a:endParaRPr lang="en-US" sz="850" dirty="0"/>
          </a:p>
        </p:txBody>
      </p:sp>
      <p:sp>
        <p:nvSpPr>
          <p:cNvPr id="52" name="Text 47"/>
          <p:cNvSpPr/>
          <p:nvPr/>
        </p:nvSpPr>
        <p:spPr>
          <a:xfrm>
            <a:off x="7269480" y="553212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일관성을 차선 선택 비용에 반영한 결과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54" name="Text 49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 있는 차도 정면이 확정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된다 — 지도의 방향 규약을 검증하고 활용한 결과</a:t>
            </a:r>
            <a:endParaRPr lang="en-US" sz="1250" dirty="0"/>
          </a:p>
        </p:txBody>
      </p:sp>
      <p:sp>
        <p:nvSpPr>
          <p:cNvPr id="55" name="Shape 50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56" name="Text 51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Ⅵ-2.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경로 학습과 방향 예측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 좌표계 위에서 속도를 학습하고, 차로 곡선을 따라 움직임을 예측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55778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" y="1225296"/>
            <a:ext cx="1901952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22529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구간별 속도 지도 학습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" y="1664208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차로를 10m 구간으로 나눠 관측 트랙의 대표 속도를 구간별로 축적 (트랙당 1표 — 떨림이 통계를 오염시키지 않도록)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관측이 없는 구간은 이웃 보간 → 차로 중앙값 → 전역 중앙값 순서로 계단식 보충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비현실 값은 15~120km/h로 제한 — '측정'이 아닌 '표시'값임을 함께 기록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840480"/>
            <a:ext cx="557784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" y="3694176"/>
            <a:ext cx="1504188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3694176"/>
            <a:ext cx="1504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갈림길 선택 비율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" y="4133088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 사이의 통행량을 세어 갈림길에서의 직진·좌회전·우회전 비율을 집계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지도와 결합하면 관측이 없는 시간에도 차량이 차로를 따라 자연스러운 속도로 움직이는 합성 재현이 가능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99632" y="1371600"/>
            <a:ext cx="55778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64224" y="1225296"/>
            <a:ext cx="2697480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28" name="Text 26"/>
          <p:cNvSpPr/>
          <p:nvPr/>
        </p:nvSpPr>
        <p:spPr>
          <a:xfrm>
            <a:off x="6364224" y="122529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예측 — 지도 기하에서 유도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45936" y="1664208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별도의 예측 모델이 아니라 차로 곡선의 접선이 곧 예상 방향 — 지도가 이미 정답을 알고 있다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등으로 관측이 끊기면 차량을 직선이 아닌 차로 곡선을 따라 전진 — 곡선 도로에서도 경로 이탈 없음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재등장 시 같은 차로 위에서 자연스럽게 이어짐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99632" y="3840480"/>
            <a:ext cx="5577840" cy="2240280"/>
          </a:xfrm>
          <a:prstGeom prst="roundRect">
            <a:avLst>
              <a:gd name="adj" fmla="val 2041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64224" y="3694176"/>
            <a:ext cx="1504188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32" name="Text 30"/>
          <p:cNvSpPr/>
          <p:nvPr/>
        </p:nvSpPr>
        <p:spPr>
          <a:xfrm>
            <a:off x="6364224" y="3694176"/>
            <a:ext cx="1504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정직한 한계 표기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45936" y="4133088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 고정은 이탈을 막는 장치이지, 올바른 차로를 골랐다는 보장은 아님 — 보정 정확도가 전제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트랙은 한 차선 사슬에 고정 — 차로 변경·회전 동작은 아직 표현하지 못함 (다음 단계 과제)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기하 + 관측 통계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예측 모델 없이도 차량이 차로를 따라 자연스럽게 움직인다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37" name="Text 35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Ⅵ-3.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요약과 다음 단계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수치로 확인된 개선, 그리고 정직하게 남긴 과제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지도·연동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객체 탐지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598932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" y="1225296"/>
            <a:ext cx="1636776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225296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수치로 확인된 성과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17373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4.3배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66928" y="21214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영상 검출 수 (1,830→7,904)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93008" y="17373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0.39→0.68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493008" y="21214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정밀도 — 재현율은 그대로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26517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29→0건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66928" y="30358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 건너뜀 (떨림 122→0건)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93008" y="26517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1.94°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493008" y="30358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방향 오차 (18.77°에서)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35661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0.000000m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66928" y="39502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 보간의 원위치 재현 오차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93008" y="35661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cm급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3493008" y="39502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정밀지도 정점 기준점 스냅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583680" y="1371600"/>
            <a:ext cx="5193792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48272" y="1225296"/>
            <a:ext cx="1371600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35" name="Text 33"/>
          <p:cNvSpPr/>
          <p:nvPr/>
        </p:nvSpPr>
        <p:spPr>
          <a:xfrm>
            <a:off x="6748272" y="1225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 과제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1700784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5대 중 4대의 기준점 재작업 — 모든 개선의 선행조건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 변경·회전 동작의 표현 (현재는 한 차선 사슬 고정)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원거리 정답 라벨의 한계 극복 (판교 48%·연수 78% 라벨 불가)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번호판·얼굴 등 개인정보 마스킹 체계화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4709160"/>
            <a:ext cx="11365992" cy="1371600"/>
          </a:xfrm>
          <a:prstGeom prst="roundRect">
            <a:avLst>
              <a:gd name="adj" fmla="val 4000"/>
            </a:avLst>
          </a:prstGeom>
          <a:solidFill>
            <a:srgbClr val="0F2A44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491947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없이는 채택하지 않는다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822960" y="53583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효과가 없었던 시도도 근거와 함께 기록했습니다 — 다음 단계는 기준점 재작업에서 시작합니다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86968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AI동아리 인하이브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869680" y="5394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43" name="Text 41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2026-07-28T09:47:10Z</dcterms:created>
  <dcterms:modified xsi:type="dcterms:W3CDTF">2026-07-28T09:47:10Z</dcterms:modified>
</cp:coreProperties>
</file>