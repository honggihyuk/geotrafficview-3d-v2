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00" r:id="rId2"/>
    <p:sldId id="301" r:id="rId3"/>
    <p:sldId id="302" r:id="rId25"/>
    <p:sldId id="303" r:id="rId26"/>
    <p:sldId id="304" r:id="rId27"/>
    <p:sldId id="305" r:id="rId28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3"/>
    <p:sldId id="314" r:id="rId14"/>
    <p:sldId id="315" r:id="rId11"/>
    <p:sldId id="316" r:id="rId12"/>
    <p:sldId id="317" r:id="rId15"/>
    <p:sldId id="318" r:id="rId16"/>
    <p:sldId id="319" r:id="rId17"/>
    <p:sldId id="320" r:id="rId18"/>
    <p:sldId id="32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8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3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ovimg3.png"/><Relationship Id="rId5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20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47.png"/><Relationship Id="rId3" Type="http://schemas.openxmlformats.org/officeDocument/2006/relationships/image" Target="../media/image23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image" Target="../media/image51.png"/><Relationship Id="rId7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42.png"/><Relationship Id="rId3" Type="http://schemas.openxmlformats.org/officeDocument/2006/relationships/image" Target="../media/ovimg1.png"/><Relationship Id="rId4" Type="http://schemas.openxmlformats.org/officeDocument/2006/relationships/image" Target="../media/image28.png"/><Relationship Id="rId5" Type="http://schemas.openxmlformats.org/officeDocument/2006/relationships/image" Target="../media/ovimg2.png"/><Relationship Id="rId6" Type="http://schemas.openxmlformats.org/officeDocument/2006/relationships/image" Target="../media/image45.png"/><Relationship Id="rId7" Type="http://schemas.openxmlformats.org/officeDocument/2006/relationships/image" Target="../media/image47.png"/><Relationship Id="rId8" Type="http://schemas.openxmlformats.org/officeDocument/2006/relationships/image" Target="../media/image25.png"/><Relationship Id="rId9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0.png"/><Relationship Id="rId3" Type="http://schemas.openxmlformats.org/officeDocument/2006/relationships/image" Target="../media/image30.png"/><Relationship Id="rId4" Type="http://schemas.openxmlformats.org/officeDocument/2006/relationships/image" Target="../media/image51.png"/><Relationship Id="rId5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REPORT   |   2026. 07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2344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기반</a:t>
            </a:r>
            <a:endParaRPr lang="en-US" sz="3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교통 디지털 트윈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icons/satelli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712464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14984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 · CCTV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68296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icons/box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3712464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97480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실좌표 3D 재현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050792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icons/d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712464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79976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DB 적재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733288" y="361188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5240">
            <a:solidFill>
              <a:srgbClr val="0E7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icons/cha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371246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62472" y="36118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 (LLM)</a:t>
            </a:r>
            <a:endParaRPr lang="en-US" sz="850" dirty="0"/>
          </a:p>
        </p:txBody>
      </p:sp>
      <p:pic>
        <p:nvPicPr>
          <p:cNvPr id="28" name="Image 5" descr="icons/crosshair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177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3327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8580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기준점과 정량 검증</a:t>
            </a:r>
            <a:endParaRPr lang="en-US" sz="750" dirty="0"/>
          </a:p>
        </p:txBody>
      </p:sp>
      <p:pic>
        <p:nvPicPr>
          <p:cNvPr id="31" name="Image 6" descr="icons/gauge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461772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1635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246888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영상과 지도 동기 재생</a:t>
            </a:r>
            <a:endParaRPr lang="en-US" sz="750" dirty="0"/>
          </a:p>
        </p:txBody>
      </p:sp>
      <p:pic>
        <p:nvPicPr>
          <p:cNvPr id="34" name="Image 7" descr="icons/layers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960" y="461772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59943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통합성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425196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수집-표현-DB-질의 일원화</a:t>
            </a:r>
            <a:endParaRPr lang="en-US" sz="750" dirty="0"/>
          </a:p>
        </p:txBody>
      </p:sp>
      <p:pic>
        <p:nvPicPr>
          <p:cNvPr id="37" name="Image 8" descr="icons/shield_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0" y="4617720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382512" y="4590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6035040" y="49011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</a:rPr>
              <a:t>수치적 평가로 검증</a:t>
            </a:r>
            <a:endParaRPr lang="en-US" sz="750" dirty="0"/>
          </a:p>
        </p:txBody>
      </p:sp>
      <p:sp>
        <p:nvSpPr>
          <p:cNvPr id="40" name="Shape 29"/>
          <p:cNvSpPr/>
          <p:nvPr/>
        </p:nvSpPr>
        <p:spPr>
          <a:xfrm>
            <a:off x="685800" y="5806440"/>
            <a:ext cx="10817352" cy="12802"/>
          </a:xfrm>
          <a:prstGeom prst="rect">
            <a:avLst/>
          </a:prstGeom>
          <a:solidFill>
            <a:srgbClr val="2C4A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/>
          <p:nvPr/>
        </p:nvSpPr>
        <p:spPr>
          <a:xfrm>
            <a:off x="6858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GEOSTORY AI</a:t>
            </a: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기술연구본부 </a:t>
            </a:r>
            <a:r>
              <a:rPr lang="en-US" alt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기획팀 학생연구원 홍기혁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7315200" y="598932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07. 29  ·  기술 발표자료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기반 3D 교통 디지털 트윈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</a:t>
            </a:r>
            <a:endParaRPr lang="en-US" sz="1100" dirty="0"/>
          </a:p>
        </p:txBody>
      </p:sp>
      <p:pic>
        <p:nvPicPr>
          <p:cNvPr id="6" name="Image 0" descr="img/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31920"/>
            <a:ext cx="3017520" cy="1591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속 차량이 지도 위 3D 모형이 됩니다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89120" y="777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38912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0" y="75895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20640" y="10789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현황 · 원인 구분 · 로드맵 · 효율성 · 기능 · 자연어 처리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120640" y="1490472"/>
            <a:ext cx="6656832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389120" y="17099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89120" y="1709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0640" y="16916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</a:t>
            </a: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5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</a:t>
            </a: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CCTV)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20640" y="20116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 일치 · 차선 안 자연스러운 이동 · 실측 위치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120640" y="2423160"/>
            <a:ext cx="6656832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389120" y="264261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389120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20640" y="262432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 고도화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20640" y="29443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 특화 인식 · 오탐 제거와 정량 검증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20640" y="3355848"/>
            <a:ext cx="6656832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389120" y="35753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38912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20640" y="35570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지도·데이터 연동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120640" y="38770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고해상 위성지도 3D · 전국 CCTV와 위치 오차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120640" y="4288536"/>
            <a:ext cx="6656832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389120" y="45079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389120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20640" y="448970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보정(캘리브레이션)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120640" y="48097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보정 3단계 · 기준점 작업 가이드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120640" y="5221224"/>
            <a:ext cx="6656832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4389120" y="54406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38912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20640" y="54223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이동체 표현 고도화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120640" y="57424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정면·후면 판정 · 경로 학습과 방향 예측 · </a:t>
            </a:r>
            <a:r>
              <a:rPr lang="ko-KR" alt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과제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D31B12C-5E6A-151C-1F33-EE5B3BE89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1" y="3801139"/>
            <a:ext cx="3017520" cy="1730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Ⅰ-5.  </a:t>
            </a:r>
            <a:r>
              <a:rPr lang="en-US" sz="2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만들었는가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CCTV 영상으로 실제 지도 위에 교통을 3D로 재현하는 웹 기반 디지털 트윈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188720"/>
            <a:ext cx="4069080" cy="2148840"/>
          </a:xfrm>
          <a:prstGeom prst="roundRect">
            <a:avLst>
              <a:gd name="adj" fmla="val 2128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76072" y="1042416"/>
            <a:ext cx="973836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6072" y="1042416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14813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하나로,</a:t>
            </a:r>
            <a:endParaRPr lang="en-US" sz="1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지도 위에 살아있는</a:t>
            </a:r>
            <a:endParaRPr lang="en-US" sz="1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교통을 다시 그린다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03504" y="2560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마커를 클릭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좌: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3D 상자 / 우: 지도 위 3D 차량 동시 재생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✓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재생 시각을 기준 시계로 두 화면을 프레임 동기화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547872"/>
            <a:ext cx="4069080" cy="2560320"/>
          </a:xfrm>
          <a:prstGeom prst="roundRect">
            <a:avLst>
              <a:gd name="adj" fmla="val 1429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0" descr="img/pangy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80" y="3976918"/>
            <a:ext cx="2722880" cy="160092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2920" y="58338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위에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3D 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 표시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화면 (경부선 판교2)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90288" y="1188720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18304" y="14036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icons/satellit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911" y="1508211"/>
            <a:ext cx="266273" cy="26627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03520" y="1261872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 · CCTV 마커 지도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303520" y="1571065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고해상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위성영상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고속도로와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서울 CCTV의 실제 위치를 표시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590288" y="2180844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4718304" y="2395728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icons/sca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911" y="2500335"/>
            <a:ext cx="266273" cy="26627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303520" y="2253996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속 차량 인식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303520" y="2563189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보행자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찾아내고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같은 차에 같은 번호를 유지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590288" y="3172968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4718304" y="338785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3" descr="icons/box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11" y="3492459"/>
            <a:ext cx="266273" cy="26627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03520" y="3246120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3D 재현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303520" y="3555313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좌표를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좌표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변환해 차종별 실측 크기의 3D 모형으로 표시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590288" y="4165092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4718304" y="43799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4" descr="icons/db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911" y="4484583"/>
            <a:ext cx="266273" cy="266273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303520" y="4238244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DB 저장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5303520" y="4547437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공간 데이터베이스에 적재, 화면과 DB 일치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590288" y="5157216"/>
            <a:ext cx="7187184" cy="905256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0"/>
          <p:cNvSpPr/>
          <p:nvPr/>
        </p:nvSpPr>
        <p:spPr>
          <a:xfrm>
            <a:off x="4718304" y="537210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5" descr="icons/cha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911" y="5476707"/>
            <a:ext cx="266273" cy="266273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303520" y="5230368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묻는 교통 통계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5303520" y="5539561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"가장 혼잡한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카메라는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?“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내장 언어모델이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답변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관찰 ·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3D 재현 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통계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브라우저만으로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구동</a:t>
            </a:r>
            <a:endParaRPr lang="en-US" sz="1250" dirty="0"/>
          </a:p>
        </p:txBody>
      </p:sp>
      <p:sp>
        <p:nvSpPr>
          <p:cNvPr id="53" name="Shape 4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6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47CB2970-76A8-927A-9953-12A52228BA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368" y="3660072"/>
            <a:ext cx="3342132" cy="2155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Ⅰ-6.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· 재현 · 보정 · 저장 · 질의 · 평가를 하나의 웹 화면에 통합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207008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57784" y="1353312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pla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5389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패널 동기 재생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18288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위 3D 상자(좌)와 지도 위 실좌표 3D 차량(우)을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시계로 동시 재생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288536" y="1207008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434840" y="1353312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ca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453896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01768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차량 모형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471416" y="18288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모델 없이 코드로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전조등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미등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전면과 후면을 구분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8165592" y="1207008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8311896" y="1353312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crosshai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453896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878824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보정 화면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348472" y="18288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CCTV와 위성지도를 나란히 놓고 같은 지점을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짝지어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</a:t>
            </a:r>
            <a:endParaRPr lang="en-US" altLang="ko-KR" sz="900" dirty="0">
              <a:solidFill>
                <a:srgbClr val="5D718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11480" y="2834640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557784" y="29809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icons/d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08152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24712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DB 적재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94360" y="34564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PostGIS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설치 없는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SQLite에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화면에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288536" y="2834640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4434840" y="29809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icons/cha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3081528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001768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471416" y="34564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언어모델이 질문을 읽기 전용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정리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답변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165592" y="2834640"/>
            <a:ext cx="371246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8311896" y="29809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5" descr="icons/char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081528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878824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도구 내장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8348472" y="34564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라벨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작성기와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채점기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품질을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411480" y="4590288"/>
            <a:ext cx="11365992" cy="1463040"/>
          </a:xfrm>
          <a:prstGeom prst="roundRect">
            <a:avLst>
              <a:gd name="adj" fmla="val 3125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1"/>
          <p:cNvSpPr/>
          <p:nvPr/>
        </p:nvSpPr>
        <p:spPr>
          <a:xfrm>
            <a:off x="576072" y="4443984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2"/>
          <p:cNvSpPr/>
          <p:nvPr/>
        </p:nvSpPr>
        <p:spPr>
          <a:xfrm>
            <a:off x="576072" y="4443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구축 현황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8580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</a:t>
            </a:r>
            <a:endParaRPr lang="en-US" sz="2100" dirty="0"/>
          </a:p>
        </p:txBody>
      </p:sp>
      <p:sp>
        <p:nvSpPr>
          <p:cNvPr id="52" name="Text 44"/>
          <p:cNvSpPr/>
          <p:nvPr/>
        </p:nvSpPr>
        <p:spPr>
          <a:xfrm>
            <a:off x="68580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카메라 (판교·송도·연수·옥련·상암 등)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347472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10종</a:t>
            </a:r>
            <a:endParaRPr lang="en-US" sz="2100" dirty="0"/>
          </a:p>
        </p:txBody>
      </p:sp>
      <p:sp>
        <p:nvSpPr>
          <p:cNvPr id="54" name="Text 46"/>
          <p:cNvSpPr/>
          <p:nvPr/>
        </p:nvSpPr>
        <p:spPr>
          <a:xfrm>
            <a:off x="347472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대상 (승용·버스·트럭·보행자 등)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626364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2종</a:t>
            </a:r>
            <a:endParaRPr lang="en-US" sz="2100" dirty="0"/>
          </a:p>
        </p:txBody>
      </p:sp>
      <p:sp>
        <p:nvSpPr>
          <p:cNvPr id="56" name="Text 48"/>
          <p:cNvSpPr/>
          <p:nvPr/>
        </p:nvSpPr>
        <p:spPr>
          <a:xfrm>
            <a:off x="626364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 (Esri 고해상 · Sentinel-2)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905256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6구간</a:t>
            </a:r>
            <a:endParaRPr lang="en-US" sz="2100" dirty="0"/>
          </a:p>
        </p:txBody>
      </p:sp>
      <p:sp>
        <p:nvSpPr>
          <p:cNvPr id="58" name="Text 50"/>
          <p:cNvSpPr/>
          <p:nvPr/>
        </p:nvSpPr>
        <p:spPr>
          <a:xfrm>
            <a:off x="9052560" y="5330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확보한 정밀도로지도 데이터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Ⅰ-7.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작동 흐름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수집부터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질의까지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다섯 단계 일방향 파이프라인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9496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0" descr="icons/downlo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771" y="1778691"/>
            <a:ext cx="337962" cy="33796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수집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57784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API(ITS·TOPIS)에서 CCTV 목록·실시간 주소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스냅샷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저장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515395" y="2212848"/>
            <a:ext cx="219456" cy="219456"/>
          </a:xfrm>
          <a:prstGeom prst="chevron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2761488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2889504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2889504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493008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icons/sca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779" y="1778691"/>
            <a:ext cx="337962" cy="33796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852928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인식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2907792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en-US" altLang="ko-KR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소형차는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인식으로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865403" y="2212848"/>
            <a:ext cx="219456" cy="219456"/>
          </a:xfrm>
          <a:prstGeom prst="chevron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5111496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5239512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/>
          <p:nvPr/>
        </p:nvSpPr>
        <p:spPr>
          <a:xfrm>
            <a:off x="5239512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843016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2" descr="icons/ma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87" y="1778691"/>
            <a:ext cx="337962" cy="33796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202936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3D 표현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5257800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변환식으로 실좌표 이동, 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중심선 정렬, 3D 모형 렌더링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7215411" y="2212848"/>
            <a:ext cx="219456" cy="219456"/>
          </a:xfrm>
          <a:prstGeom prst="chevron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7461504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7589520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7589520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193024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3" descr="icons/d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795" y="1778691"/>
            <a:ext cx="337962" cy="33796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552944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</a:t>
            </a:r>
            <a:endParaRPr lang="en-US" sz="1250" dirty="0"/>
          </a:p>
        </p:txBody>
      </p:sp>
      <p:sp>
        <p:nvSpPr>
          <p:cNvPr id="48" name="Text 42"/>
          <p:cNvSpPr/>
          <p:nvPr/>
        </p:nvSpPr>
        <p:spPr>
          <a:xfrm>
            <a:off x="7607808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단위 결과를 공간 DB 적재, 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카메라별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요약 뷰 생성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9565419" y="2212848"/>
            <a:ext cx="219456" cy="219456"/>
          </a:xfrm>
          <a:prstGeom prst="chevron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4"/>
          <p:cNvSpPr/>
          <p:nvPr/>
        </p:nvSpPr>
        <p:spPr>
          <a:xfrm>
            <a:off x="9811512" y="1417320"/>
            <a:ext cx="207568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5"/>
          <p:cNvSpPr/>
          <p:nvPr/>
        </p:nvSpPr>
        <p:spPr>
          <a:xfrm>
            <a:off x="9939528" y="1289304"/>
            <a:ext cx="384048" cy="274320"/>
          </a:xfrm>
          <a:prstGeom prst="rect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6"/>
          <p:cNvSpPr/>
          <p:nvPr/>
        </p:nvSpPr>
        <p:spPr>
          <a:xfrm>
            <a:off x="9939528" y="1289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10543032" y="1645920"/>
            <a:ext cx="603504" cy="60350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4" descr="icons/cha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5803" y="1778691"/>
            <a:ext cx="337962" cy="33796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9902952" y="2304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9957816" y="260604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언어모델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(Qwen3-8b)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SQL </a:t>
            </a:r>
            <a:r>
              <a:rPr lang="ko-KR" alt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데이터을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읽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411480" y="370332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1"/>
          <p:cNvSpPr/>
          <p:nvPr/>
        </p:nvSpPr>
        <p:spPr>
          <a:xfrm>
            <a:off x="576072" y="3557016"/>
            <a:ext cx="1901952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/>
          <p:nvPr/>
        </p:nvSpPr>
        <p:spPr>
          <a:xfrm>
            <a:off x="576072" y="35570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산출물 저장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621792" y="3950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캘리브레이션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하거나 기준점을 추가 해도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돌리지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ko-KR" sz="1000" dirty="0"/>
              <a:t>저장된 결과에 새 변환식만 다시 적용(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재투영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 산출물은 압축 재생 파일(.json.gz)로 저장되어 단계별 비교 실험 가능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6217920" y="3703320"/>
            <a:ext cx="555955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5"/>
          <p:cNvSpPr/>
          <p:nvPr/>
        </p:nvSpPr>
        <p:spPr>
          <a:xfrm>
            <a:off x="6382512" y="3557016"/>
            <a:ext cx="203454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6"/>
          <p:cNvSpPr/>
          <p:nvPr/>
        </p:nvSpPr>
        <p:spPr>
          <a:xfrm>
            <a:off x="6382512" y="3557016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반자동 위치 보정 과정</a:t>
            </a:r>
            <a:endParaRPr lang="en-US" sz="1000" dirty="0"/>
          </a:p>
        </p:txBody>
      </p:sp>
      <p:sp>
        <p:nvSpPr>
          <p:cNvPr id="64" name="Text 57"/>
          <p:cNvSpPr/>
          <p:nvPr/>
        </p:nvSpPr>
        <p:spPr>
          <a:xfrm>
            <a:off x="6400800" y="3950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공공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스트림에서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스냅샷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</a:t>
            </a: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자동 보정 후 기준점 1~3점으로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마스크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화면에 새겨진 글자를 사람이 승인 후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</a:t>
            </a: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궤적을 정밀도로지도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웹 지도 마커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DB 적재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9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/ 객체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지도 3D / DB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LLM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</a:t>
            </a:r>
            <a:endParaRPr lang="en-US" sz="1250" dirty="0"/>
          </a:p>
        </p:txBody>
      </p:sp>
      <p:sp>
        <p:nvSpPr>
          <p:cNvPr id="67" name="Shape 6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Ⅰ-8.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처리 — 동작 과정과 성과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답이 되기까지 네 걸음, 각 걸음이 만드는 가치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26974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151790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cha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1848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88136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질문 입력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94360" y="20665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"버스 몇 대 지나갔어?"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594360" y="2688336"/>
            <a:ext cx="234086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276148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지식 문턱 제거 — 질의어(SQL)를 몰라도 누구나 데이터에 접근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3136392" y="2377440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26" name="Shape 23"/>
          <p:cNvSpPr/>
          <p:nvPr/>
        </p:nvSpPr>
        <p:spPr>
          <a:xfrm>
            <a:off x="3300984" y="1371600"/>
            <a:ext cx="2697480" cy="2377440"/>
          </a:xfrm>
          <a:prstGeom prst="roundRect">
            <a:avLst>
              <a:gd name="adj" fmla="val 1923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47288" y="151790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8" name="Image 1" descr="icons/cpu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61848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977640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질의문 생성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3483864" y="20665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컴퓨터의 AI가 DB 구조를 보고 조회문 작성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3483864" y="2688336"/>
            <a:ext cx="234086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32" name="Text 28"/>
          <p:cNvSpPr/>
          <p:nvPr/>
        </p:nvSpPr>
        <p:spPr>
          <a:xfrm>
            <a:off x="3483864" y="276148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0·유출 0 — 외부 클라우드 없이 완전 로컬 처리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6025896" y="2377440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34" name="Shape 30"/>
          <p:cNvSpPr/>
          <p:nvPr/>
        </p:nvSpPr>
        <p:spPr>
          <a:xfrm>
            <a:off x="6190488" y="1371600"/>
            <a:ext cx="26974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336792" y="151790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6" name="Image 2" descr="icon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618488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67144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읽기 전용 실행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373368" y="20665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조회만 통과하는 3중 잠금 후 실행</a:t>
            </a:r>
            <a:endParaRPr lang="en-US" sz="880" dirty="0"/>
          </a:p>
        </p:txBody>
      </p:sp>
      <p:sp>
        <p:nvSpPr>
          <p:cNvPr id="39" name="Shape 34"/>
          <p:cNvSpPr/>
          <p:nvPr/>
        </p:nvSpPr>
        <p:spPr>
          <a:xfrm>
            <a:off x="6373368" y="2688336"/>
            <a:ext cx="234086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40" name="Text 35"/>
          <p:cNvSpPr/>
          <p:nvPr/>
        </p:nvSpPr>
        <p:spPr>
          <a:xfrm>
            <a:off x="6373368" y="276148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보장 — 어떤 질문도 데이터를 바꿀 수 없다</a:t>
            </a:r>
            <a:endParaRPr lang="en-US" sz="880" dirty="0"/>
          </a:p>
        </p:txBody>
      </p:sp>
      <p:sp>
        <p:nvSpPr>
          <p:cNvPr id="41" name="Shape 36"/>
          <p:cNvSpPr/>
          <p:nvPr/>
        </p:nvSpPr>
        <p:spPr>
          <a:xfrm>
            <a:off x="8915400" y="2377440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42" name="Shape 37"/>
          <p:cNvSpPr/>
          <p:nvPr/>
        </p:nvSpPr>
        <p:spPr>
          <a:xfrm>
            <a:off x="9079992" y="1371600"/>
            <a:ext cx="26974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226296" y="151790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4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18488"/>
            <a:ext cx="256032" cy="25603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756648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한국어 답변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9262872" y="20665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한두 문장으로 요약</a:t>
            </a:r>
            <a:endParaRPr lang="en-US" sz="880" dirty="0"/>
          </a:p>
        </p:txBody>
      </p:sp>
      <p:sp>
        <p:nvSpPr>
          <p:cNvPr id="47" name="Shape 41"/>
          <p:cNvSpPr/>
          <p:nvPr/>
        </p:nvSpPr>
        <p:spPr>
          <a:xfrm>
            <a:off x="9262872" y="2688336"/>
            <a:ext cx="2340864" cy="7315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48" name="Text 42"/>
          <p:cNvSpPr/>
          <p:nvPr/>
        </p:nvSpPr>
        <p:spPr>
          <a:xfrm>
            <a:off x="9262872" y="276148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시간 단축 — 표 대신 결론을 몇 초 안에</a:t>
            </a:r>
            <a:endParaRPr lang="en-US" sz="880" dirty="0"/>
          </a:p>
        </p:txBody>
      </p:sp>
      <p:sp>
        <p:nvSpPr>
          <p:cNvPr id="49" name="Shape 43"/>
          <p:cNvSpPr/>
          <p:nvPr/>
        </p:nvSpPr>
        <p:spPr>
          <a:xfrm>
            <a:off x="411480" y="4023360"/>
            <a:ext cx="5577840" cy="205740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576072" y="3877056"/>
            <a:ext cx="2962656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51" name="Text 45"/>
          <p:cNvSpPr/>
          <p:nvPr/>
        </p:nvSpPr>
        <p:spPr>
          <a:xfrm>
            <a:off x="576072" y="387705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— 관제 업무가 이렇게 달라진다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603504" y="429768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"어제와 오늘 중 언제가 더 혼잡했나" 같은 질문을 담당자가 직접, 몇 초 안에 확인 — 분석 의뢰·대기 과정이 사라짐</a:t>
            </a:r>
            <a:endParaRPr lang="en-US" sz="93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"송도IC로 이동" 같은 화면 조작은 AI를 거치지 않고 즉시 실행 — 대화와 조작이 한 창에서</a:t>
            </a:r>
            <a:endParaRPr lang="en-US" sz="93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답변의 근거가 되는 조회문을 함께 보여줘 검증 가능</a:t>
            </a:r>
            <a:endParaRPr lang="en-US" sz="930" dirty="0"/>
          </a:p>
        </p:txBody>
      </p:sp>
      <p:sp>
        <p:nvSpPr>
          <p:cNvPr id="53" name="Shape 47"/>
          <p:cNvSpPr/>
          <p:nvPr/>
        </p:nvSpPr>
        <p:spPr>
          <a:xfrm>
            <a:off x="6199632" y="4023360"/>
            <a:ext cx="5577840" cy="205740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364224" y="3877056"/>
            <a:ext cx="1106424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55" name="Text 49"/>
          <p:cNvSpPr/>
          <p:nvPr/>
        </p:nvSpPr>
        <p:spPr>
          <a:xfrm>
            <a:off x="6364224" y="3877056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신뢰의 근거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6345936" y="429768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보이는 차량과 같은 DB를 조회 — 눈으로 본 것과 숫자가 항상 일치하도록 설계</a:t>
            </a:r>
            <a:endParaRPr lang="en-US" sz="93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차가 여러 번 찍혀도 추적 번호로 세어 '대수'가 중복 없이 계산</a:t>
            </a:r>
            <a:endParaRPr lang="en-US" sz="93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▪"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통계는 정지·잡음(시속 1km 이하)을 제외하는 규칙 내장 — 질문마다 일관된 기준</a:t>
            </a:r>
            <a:endParaRPr lang="en-US" sz="930" dirty="0"/>
          </a:p>
        </p:txBody>
      </p:sp>
      <p:sp>
        <p:nvSpPr>
          <p:cNvPr id="57" name="Shape 51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8" name="Text 52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대화가 된다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보는 관제에서 묻는 관제로</a:t>
            </a:r>
            <a:endParaRPr lang="en-US" sz="1250" dirty="0"/>
          </a:p>
        </p:txBody>
      </p:sp>
      <p:sp>
        <p:nvSpPr>
          <p:cNvPr id="59" name="Shape 5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60" name="Text 5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Ⅱ-1.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정밀도로지도를 화면·지도에 일치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단위 국가 지도를 자르고, 방향을 검증하고, 화면에 되그려 확인한다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25880"/>
            <a:ext cx="4901184" cy="3401568"/>
          </a:xfrm>
          <a:prstGeom prst="roundRect">
            <a:avLst>
              <a:gd name="adj" fmla="val 1064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img/lane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52" y="1640619"/>
            <a:ext cx="3683839" cy="24558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4453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중심선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)을 판교 CCTV 화면에 되그린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선형과 맞물림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4892040"/>
            <a:ext cx="4901184" cy="1188720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66928" y="501091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게이트  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차선이 도로에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얹히는지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확인하여</a:t>
            </a:r>
            <a: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통과하지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못하면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정합·기준점 재작업으로 되돌린다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1325880"/>
            <a:ext cx="61081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797296" y="182880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lay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903" y="1933407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82512" y="14356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필요한 구간만 잘라 병합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382512" y="1933407"/>
            <a:ext cx="5266944" cy="39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국토정보플랫폼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제공하는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정밀도로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벡터데이터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(차선 단위) 중 카메라 반경 800m만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배포본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웹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경량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669280" y="2953512"/>
            <a:ext cx="61081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797296" y="34564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compas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903" y="3561039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382512" y="306324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주행 방향 자체 검증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382512" y="3561039"/>
            <a:ext cx="5266944" cy="39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선의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주행 방향 규약을 교차점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669280" y="4581144"/>
            <a:ext cx="61081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5797296" y="508406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icons/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903" y="5188671"/>
            <a:ext cx="266273" cy="26627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82512" y="46908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기준으로 고정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6382512" y="5188671"/>
            <a:ext cx="5266944" cy="39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cm급 측량 성과이므로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</a:t>
            </a:r>
            <a:endParaRPr lang="en-US" sz="900" dirty="0">
              <a:solidFill>
                <a:srgbClr val="5D718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위성영상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쪽 편위는 노면 무늬 비교로 측정해 표시용으로만 보정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정밀도로지도가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되어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지도 데이터는 건드리지 않고, 화면 검수로 일치를 보증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11</a:t>
            </a:r>
            <a:endParaRPr lang="en-US" sz="9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B10445BB-9D56-9A3D-A380-7F897162F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451" y="1399032"/>
            <a:ext cx="4370567" cy="3052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Ⅱ-2.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안에서 자연스럽게 움직이기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떨리는 인식 좌표를 세 겹의 처리로 차선 위 부드러운 주행으로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3712464" cy="330200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57784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rout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1" y="1622511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709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결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94360" y="2212848"/>
            <a:ext cx="3364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n-US" altLang="ko-KR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</a:t>
            </a:r>
            <a:r>
              <a:rPr lang="en-US" altLang="ko-KR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과정에서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프레임마다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가까운 차선을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고르면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lnSpc>
                <a:spcPts val="1400"/>
              </a:lnSpc>
            </a:pP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</a:t>
            </a:r>
            <a:r>
              <a:rPr lang="ko-KR" alt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깜빡</a:t>
            </a:r>
            <a:r>
              <a:rPr lang="ko-KR" alt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이며 엉뚱한 차선에 부착되는 것을 확인</a:t>
            </a:r>
            <a:endParaRPr lang="en-US" altLang="ko-KR" sz="93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ts val="1400"/>
              </a:lnSpc>
            </a:pPr>
            <a:endParaRPr lang="en-US" sz="93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 전체를 보고 가장 그럴듯한 차선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경로를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확률적으로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번에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594360" y="400507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288536" y="1371600"/>
            <a:ext cx="3712464" cy="330200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434840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icons/magn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447" y="1622511"/>
            <a:ext cx="266273" cy="26627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01768" y="1709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고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471416" y="2212848"/>
            <a:ext cx="3364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도로로 실제 이어지는 가장 긴 차선 사슬에 트랙을 고정하고,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진행거리로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위치를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재계산</a:t>
            </a:r>
            <a:endParaRPr lang="en-US" sz="93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endParaRPr lang="en-US" sz="93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 가는 움직임은 정리하고 속도는 평활 후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적분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4471416" y="400507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8165592" y="1371600"/>
            <a:ext cx="3712464" cy="330200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8311896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2" descr="icons/pla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503" y="1622511"/>
            <a:ext cx="266273" cy="266273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878824" y="1709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8348472" y="2212848"/>
            <a:ext cx="3364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30fps 결과를 화면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주사율로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곡선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보간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/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최단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</a:p>
          <a:p>
            <a:pPr marL="0" indent="0">
              <a:lnSpc>
                <a:spcPts val="1400"/>
              </a:lnSpc>
              <a:buNone/>
            </a:pPr>
            <a:endParaRPr lang="en-US" sz="93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시속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200km 초과 순간이동은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</a:t>
            </a: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3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</a:t>
            </a:r>
            <a:r>
              <a:rPr lang="ko-KR" alt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소멸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8348472" y="400507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411480" y="5257800"/>
            <a:ext cx="11365992" cy="841248"/>
          </a:xfrm>
          <a:prstGeom prst="roundRect">
            <a:avLst>
              <a:gd name="adj" fmla="val 5435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621792" y="525780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표시 원칙  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정보가 없는 차량은 임의 방향으로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세우지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정보를 있는 것처럼 보여주지 않기 위해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않는다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이탈이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일어날 수 없는 구조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12</a:t>
            </a:r>
            <a:endParaRPr lang="en-US" sz="9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1CF8664-40C7-02DA-59E4-261B331F3C13}"/>
              </a:ext>
            </a:extLst>
          </p:cNvPr>
          <p:cNvSpPr/>
          <p:nvPr/>
        </p:nvSpPr>
        <p:spPr>
          <a:xfrm>
            <a:off x="594360" y="416864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0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비터비</a:t>
            </a:r>
            <a:r>
              <a:rPr lang="ko-KR" alt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 알고리즘으로 관측 점수와 연결 점수의 합이 가장 좋은 차선 하나를 </a:t>
            </a:r>
            <a:r>
              <a:rPr lang="ko-KR" altLang="en-US" sz="10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골라냄</a:t>
            </a:r>
            <a:endParaRPr lang="en-US" sz="105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9C086F9-8805-AB97-1FA5-27327EE7BC85}"/>
              </a:ext>
            </a:extLst>
          </p:cNvPr>
          <p:cNvSpPr/>
          <p:nvPr/>
        </p:nvSpPr>
        <p:spPr>
          <a:xfrm>
            <a:off x="4471416" y="416864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이동평균처럼 이웃 값들과 섞어 급격한 출렁임 제거 후 다듬어진 속도를 시간 순서로 누적해 위치 재구성</a:t>
            </a:r>
            <a:endParaRPr lang="en-US" sz="105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5B2AE0A6-EB79-F92D-007A-452F84DF9964}"/>
              </a:ext>
            </a:extLst>
          </p:cNvPr>
          <p:cNvSpPr/>
          <p:nvPr/>
        </p:nvSpPr>
        <p:spPr>
          <a:xfrm>
            <a:off x="8348472" y="416864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매 화면 갱신 시점마다 앞뒤 데이터 점 사이의 중간 위치를 계산하여</a:t>
            </a:r>
            <a:r>
              <a:rPr lang="en-US" altLang="ko-KR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,</a:t>
            </a:r>
            <a:r>
              <a:rPr lang="ko-KR" alt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 이웃점까지 </a:t>
            </a:r>
            <a:r>
              <a:rPr lang="en-US" altLang="ko-KR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4</a:t>
            </a:r>
            <a:r>
              <a:rPr lang="ko-KR" alt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</a:rPr>
              <a:t>개 점을 곡선으로 잇는다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Ⅱ-3.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CCTV를 실측 위치에 올리기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좌표 대신, 보정으로 확정한 원점을 카메라 위치로 사용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989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8562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crosshai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1960839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996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기준점 6쌍 확보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984248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화면의 노면 특징점(정지선 끝·차선 끝점)과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위성지도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같은 지점을 6쌍 짝지어 클릭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2971800"/>
            <a:ext cx="5989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539496" y="34564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icons/arrow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3561039"/>
            <a:ext cx="266273" cy="26627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24712" y="30998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실좌표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간에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변환식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124712" y="3614928"/>
            <a:ext cx="5148072" cy="21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6쌍으로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픽셀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나누고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실좌표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(UTM)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endParaRPr lang="en-US" sz="900" dirty="0">
              <a:solidFill>
                <a:srgbClr val="5D718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411480" y="4572000"/>
            <a:ext cx="5989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539496" y="505663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2" descr="icons/p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5161239"/>
            <a:ext cx="266273" cy="26627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24712" y="47000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변환 원점 = 마커 좌표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1124712" y="5184648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변환식의 기준 원점을 경위도로 되돌린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실측에 근거한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675120" y="1371600"/>
            <a:ext cx="5102352" cy="2377440"/>
          </a:xfrm>
          <a:prstGeom prst="roundRect">
            <a:avLst>
              <a:gd name="adj" fmla="val 1923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6839712" y="1225296"/>
            <a:ext cx="1106424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6839712" y="1225296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90372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API가 주는 카메라 좌표의 실측 오차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903720" y="1965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 ~ 793 m</a:t>
            </a:r>
            <a:endParaRPr lang="en-US" sz="4000" dirty="0"/>
          </a:p>
        </p:txBody>
      </p:sp>
      <p:sp>
        <p:nvSpPr>
          <p:cNvPr id="40" name="Text 35"/>
          <p:cNvSpPr/>
          <p:nvPr/>
        </p:nvSpPr>
        <p:spPr>
          <a:xfrm>
            <a:off x="6903720" y="2788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좌표를 그대로 </a:t>
            </a:r>
            <a:r>
              <a:rPr lang="en-US" sz="9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쓰면</a:t>
            </a: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카메라가</a:t>
            </a: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</a:t>
            </a: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도로 위에 놓인다</a:t>
            </a:r>
            <a:endParaRPr lang="en-US" sz="9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</a:t>
            </a:r>
            <a:r>
              <a:rPr lang="ko-KR" alt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단계를 통해 </a:t>
            </a:r>
            <a:r>
              <a:rPr lang="en-US" sz="9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보정이</a:t>
            </a:r>
            <a:r>
              <a:rPr 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끝난 카메라는 마커 좌표를 보정 원점으로 교체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675120" y="3977640"/>
            <a:ext cx="5102352" cy="203911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6839712" y="383133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6839712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 관리 규칙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876288" y="4187952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카메라는 마커 갱신에서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</a:t>
            </a:r>
            <a:b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같거나 250m 이내의 API 마커는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같은 카메라가 두 위치에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뜨는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 카메라는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청록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색과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표현</a:t>
            </a:r>
            <a: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미분석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 카메라는 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</a:t>
            </a:r>
            <a:r>
              <a:rPr lang="ko-KR" alt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란색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 보이는 카메라 위치는 API 값이 아니라 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보정의 결과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Ⅳ-1.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고해상 위성지도 위 이동체 구현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Esri·Maxar·CNES/Airbus 위성영상 위에서 3D 차량이 달린다 (MapLibre)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87452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wor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1979127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517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 지도 2종 — 인증 불필요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928191"/>
            <a:ext cx="5468112" cy="45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기본: Esri World Imagery (Esri · Maxar · Earthstar Geographics · CNES/Airbus DS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）지도로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차선까지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판독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보조: Sentinel-2 무운량 영상, 클릭 한 번으로 전환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99232"/>
            <a:ext cx="63093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39496" y="350215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box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3606759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145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지도와 한 몸인 3D 오버레이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600350"/>
            <a:ext cx="5468112" cy="35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렌더러와 깊이 정보를 공유하는 3D 층(deck.gl)에 차량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실패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환경에서는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내장 방식으로 자동 전환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626864"/>
            <a:ext cx="63093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39496" y="512978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c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5234391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만든 차량 모형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5274896"/>
            <a:ext cx="5468112" cy="35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3D 파일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규약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전조등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항상 진행 방향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050024" y="1380744"/>
            <a:ext cx="4553712" cy="2688336"/>
          </a:xfrm>
          <a:prstGeom prst="roundRect">
            <a:avLst>
              <a:gd name="adj" fmla="val 136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img/n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4156" y="1755665"/>
            <a:ext cx="3160643" cy="166417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86600" y="37947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차량들이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3D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모형으로</a:t>
            </a: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5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 화면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050024" y="4480559"/>
            <a:ext cx="4553712" cy="1628825"/>
          </a:xfrm>
          <a:prstGeom prst="roundRect">
            <a:avLst>
              <a:gd name="adj" fmla="val 2439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7174744" y="4340700"/>
            <a:ext cx="2347456" cy="26475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7132320" y="4343399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차종별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(m)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214722" y="4771735"/>
            <a:ext cx="2029756" cy="21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승용차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7214722" y="4991828"/>
            <a:ext cx="2029756" cy="22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4.4 × 1.8 × 1.5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427570" y="4771735"/>
            <a:ext cx="2029756" cy="21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승합차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9427570" y="4991828"/>
            <a:ext cx="2029756" cy="22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× 1.9 × 2.0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214722" y="5430103"/>
            <a:ext cx="2029756" cy="21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트럭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7214722" y="5650196"/>
            <a:ext cx="2029756" cy="22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8.0 × 2.5 × 3.1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9427570" y="5430103"/>
            <a:ext cx="2029756" cy="21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9427570" y="5650196"/>
            <a:ext cx="2029756" cy="229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11.0 × 2.5 × 3.4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2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토큰·비용 없는 공개 고해상 지도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위에 실측 크기의 3D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차량을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림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B60E0D00-13B2-5F4B-56F5-7D1D53ED23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8384" y="1459523"/>
            <a:ext cx="3756991" cy="2334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Ⅳ-2.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CCTV 연결과 위치 오차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공공 영상(HLS)을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마커로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변환하고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좌표 오차는 측정하고 대체한다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989320" cy="14157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911952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downlo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2016559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73108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공공 API 호출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2078556"/>
            <a:ext cx="5148072" cy="30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영역 좌표 범위를 지정해 국가교통정보센터(ITS) API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16936"/>
            <a:ext cx="5989320" cy="14157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39496" y="3463590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vide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3568197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28272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실시간 주소 확보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567799"/>
            <a:ext cx="5148072" cy="30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카메라별 실시간 스트리밍 주소(HLS, .m3u8)와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이름·좌표를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TOPIS(약 510대, 인증 불필요)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462273"/>
            <a:ext cx="5989320" cy="1618487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39496" y="5098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p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5203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9179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지도 마커 표출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5205769"/>
            <a:ext cx="5148072" cy="30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GeoJSON으로 저장해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</a:t>
            </a:r>
            <a:endParaRPr lang="en-US" sz="900" dirty="0">
              <a:solidFill>
                <a:srgbClr val="5D718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 카메라만 클릭 시 이중 패널 재생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675120" y="1371600"/>
            <a:ext cx="5102352" cy="2560320"/>
          </a:xfrm>
          <a:prstGeom prst="roundRect">
            <a:avLst>
              <a:gd name="adj" fmla="val 178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6839712" y="1225296"/>
            <a:ext cx="2299716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6839712" y="1225296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지도와 CCTV 위치의 오차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903720" y="15179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제공 좌표 vs 실제 </a:t>
            </a:r>
            <a:r>
              <a:rPr lang="en-US" sz="1050" b="1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r>
              <a:rPr lang="en-US" sz="10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1050" b="1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6949440" y="3630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ko-KR" alt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스트리밍 주소로 지도에 마커를 표시할 때</a:t>
            </a:r>
            <a:r>
              <a:rPr lang="en-US" altLang="ko-KR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9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위치 오차가 큰 것을 확인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675120" y="4160520"/>
            <a:ext cx="51023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6839712" y="4014216"/>
            <a:ext cx="973836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/>
          <p:nvPr/>
        </p:nvSpPr>
        <p:spPr>
          <a:xfrm>
            <a:off x="6839712" y="4014216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체계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876288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완료 카메라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마커 좌표를 보정 원점으로 교체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미보정 카메라: 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마커로 구분, 클릭 시 안내만 표시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/250m 이내 중복 마커 자동 정리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오차를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파악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정확한 위치 정보를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제공</a:t>
            </a:r>
            <a:endParaRPr lang="en-US" sz="1250" dirty="0"/>
          </a:p>
        </p:txBody>
      </p:sp>
      <p:sp>
        <p:nvSpPr>
          <p:cNvPr id="48" name="Shape 4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30F1231D-F772-732B-3906-3142A77F5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7191" y="1792224"/>
            <a:ext cx="3133073" cy="1608875"/>
          </a:xfrm>
          <a:prstGeom prst="rect">
            <a:avLst/>
          </a:prstGeom>
        </p:spPr>
      </p:pic>
      <p:sp>
        <p:nvSpPr>
          <p:cNvPr id="53" name="Text 35">
            <a:extLst>
              <a:ext uri="{FF2B5EF4-FFF2-40B4-BE49-F238E27FC236}">
                <a16:creationId xmlns:a16="http://schemas.microsoft.com/office/drawing/2014/main" id="{7B07270E-99BE-C9EB-9610-A1012E6FF741}"/>
              </a:ext>
            </a:extLst>
          </p:cNvPr>
          <p:cNvSpPr/>
          <p:nvPr/>
        </p:nvSpPr>
        <p:spPr>
          <a:xfrm>
            <a:off x="6967727" y="341819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ko-KR" alt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왼쪽이 </a:t>
            </a:r>
            <a:r>
              <a:rPr lang="en-US" altLang="ko-KR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CCTV </a:t>
            </a:r>
            <a:r>
              <a:rPr lang="ko-KR" alt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화면</a:t>
            </a:r>
            <a:r>
              <a:rPr lang="en-US" altLang="ko-KR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 / </a:t>
            </a:r>
            <a:r>
              <a:rPr lang="ko-KR" alt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오른쪽 파란색 마커가 </a:t>
            </a:r>
            <a:r>
              <a:rPr lang="en-US" altLang="ko-KR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CCTV </a:t>
            </a:r>
            <a:r>
              <a:rPr lang="ko-KR" alt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위치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Ⅲ-1.  </a:t>
            </a:r>
            <a:r>
              <a:rPr lang="en-US" sz="2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기존 방식과 고도화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 시점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특화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화면 분할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인식으로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</a:t>
            </a: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소형차까지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120640" cy="1965960"/>
          </a:xfrm>
          <a:prstGeom prst="roundRect">
            <a:avLst>
              <a:gd name="adj" fmla="val 2326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76072" y="1225296"/>
            <a:ext cx="1106424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6072" y="1225296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어려운가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166420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CCTV는 비스듬한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시점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원거리 차량은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11×8픽셀 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수준으로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사물 데이터(COCO)로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화면 전체 인식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소형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대부분 놓침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685032"/>
            <a:ext cx="5120640" cy="2395728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76072" y="3538728"/>
            <a:ext cx="1239012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3538728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두 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" y="381304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  <a:spcAft>
                <a:spcPts val="900"/>
              </a:spcAft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</a:t>
            </a:r>
            <a:r>
              <a:rPr lang="en-US" sz="1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</a:t>
            </a: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영상 데이터(VisDrone)로 미세조정한 모델로 시점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인식  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384px 조각으로 20% 겹치게 잘라 조각마다 인식 후 병합(SAHI)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소형차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보존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500"/>
              </a:lnSpc>
              <a:spcAft>
                <a:spcPts val="900"/>
              </a:spcAft>
              <a:buNone/>
            </a:pP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문턱</a:t>
            </a: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완화  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확신 문턱값을 소형 객체에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1371600"/>
            <a:ext cx="5971032" cy="4709160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971032" y="1225296"/>
            <a:ext cx="219456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71032" y="1225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클립 450프레임 비교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· 일반 모델 + 전체 화면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1540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· 부감 모델 + 분할 인식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0" y="2514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1,830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796528" y="2788920"/>
            <a:ext cx="274320" cy="274320"/>
          </a:xfrm>
          <a:prstGeom prst="chevron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098280" y="2514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7,904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927080" y="2715768"/>
            <a:ext cx="731520" cy="40233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927080" y="271576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410712"/>
            <a:ext cx="5440680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126480" y="3474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상자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1,093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8796528" y="3749040"/>
            <a:ext cx="274320" cy="274320"/>
          </a:xfrm>
          <a:prstGeom prst="chevron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098280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6,288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927080" y="3675888"/>
            <a:ext cx="731520" cy="40233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927080" y="367588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4370832"/>
            <a:ext cx="5440680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126480" y="4434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유지된 트랙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4944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796528" y="4709160"/>
            <a:ext cx="274320" cy="274320"/>
          </a:xfrm>
          <a:prstGeom prst="chevron">
            <a:avLst/>
          </a:prstGeom>
          <a:solidFill>
            <a:srgbClr val="0E7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909828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152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10927080" y="4636008"/>
            <a:ext cx="731520" cy="40233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0927080" y="46360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 5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소형차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탐지가 가능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Ⅲ-2.  </a:t>
            </a:r>
            <a:r>
              <a:rPr lang="en-US" sz="2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</a:t>
            </a:r>
            <a:r>
              <a:rPr lang="ko-KR" alt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 설명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개선은 같은 정답으로 검증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3547872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57784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flag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" y="1622511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678472"/>
            <a:ext cx="2926080" cy="15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94360" y="2212848"/>
            <a:ext cx="336499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클립에서 평가용 프레임을 뽑아, 웹 라벨 화면에서 사람이 차량마다 상자를 그리고 같은 차에 같은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번호를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부여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</a:b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ts val="1300"/>
              </a:lnSpc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일부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프레임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일부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영역만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라벨해도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평가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가능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ts val="1300"/>
              </a:lnSpc>
            </a:pP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ts val="1300"/>
              </a:lnSpc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원거리처럼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사람도 못 알아보는 구간은 평가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영역에서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제외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409651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94360" y="416966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94360" y="43891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파일 (labels.json)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007359" y="3002662"/>
            <a:ext cx="252602" cy="252602"/>
          </a:xfrm>
          <a:prstGeom prst="chevron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288536" y="1371600"/>
            <a:ext cx="3547872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434840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icons/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47" y="1622511"/>
            <a:ext cx="266273" cy="26627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01768" y="1678472"/>
            <a:ext cx="2926080" cy="15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채점하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471416" y="2212848"/>
            <a:ext cx="336499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US" sz="100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검출 품질: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정밀도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재현율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, AP50 (상자 겹침 50%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기준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)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</a:b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>
              <a:lnSpc>
                <a:spcPts val="1300"/>
              </a:lnSpc>
            </a:pPr>
            <a:r>
              <a:rPr lang="en-US" sz="100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추적 품질: 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MOTA(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놓침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오탐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번호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바뀜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의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종합) 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/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</a:p>
          <a:p>
            <a:pPr>
              <a:lnSpc>
                <a:spcPts val="1300"/>
              </a:lnSpc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             IDF1(번호 일관성) 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/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번호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바뀜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횟수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라벨된 영역 밖의 검출은 오탐으로 세지 않는 공정 처리,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여러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방식을 같은 정답으로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나란히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A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와 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B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비교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471416" y="409651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4471416" y="416966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활용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471416" y="43891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</a:t>
            </a:r>
            <a:r>
              <a:rPr lang="en-US" sz="13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0.394 → 0.683 </a:t>
            </a:r>
            <a:r>
              <a:rPr lang="en-US" sz="13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7884415" y="3002662"/>
            <a:ext cx="252602" cy="252602"/>
          </a:xfrm>
          <a:prstGeom prst="chevron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8165592" y="1371600"/>
            <a:ext cx="3547872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8311896" y="1517904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2" descr="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503" y="1622511"/>
            <a:ext cx="266273" cy="26627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878824" y="1678472"/>
            <a:ext cx="2926080" cy="15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진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8348472" y="2212848"/>
            <a:ext cx="336499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라벨 가능성 진단: 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라벨 작업 전에 '사람이 알아볼 수 있는 구간'의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비율을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측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정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정답이 아예 없으면 물리 타당성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지표로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대체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하여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시속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180km 초과 이동 건수가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늘면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‘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수명이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늘어도 다른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차를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이어붙인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것’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으로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</a:rPr>
              <a:t>판정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8348472" y="4096512"/>
            <a:ext cx="3346704" cy="7315"/>
          </a:xfrm>
          <a:prstGeom prst="rect">
            <a:avLst/>
          </a:prstGeom>
          <a:solidFill>
            <a:srgbClr val="D9E3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8348472" y="416966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8348472" y="43891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개선의 조기 감지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411480" y="5257800"/>
            <a:ext cx="11365992" cy="841248"/>
          </a:xfrm>
          <a:prstGeom prst="roundRect">
            <a:avLst>
              <a:gd name="adj" fmla="val 5435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621792" y="525780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지점별 metrics.json으로 저장되어 이력 비교 가능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제거·추적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정답으로 채점하지 않은 개선은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채택하지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않는다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체계로 검증</a:t>
            </a:r>
            <a:endParaRPr lang="en-US" sz="1250" dirty="0"/>
          </a:p>
        </p:txBody>
      </p:sp>
      <p:sp>
        <p:nvSpPr>
          <p:cNvPr id="48" name="Shape 4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Ⅴ-1.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캘리브레이션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0점의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보정에서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기준점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마무리까</a:t>
            </a: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3단계 스펙트럼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wan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1969983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517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 부분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960394"/>
            <a:ext cx="5468112" cy="3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차선이 화면에서 한 점으로 모이는 성질(소실점)로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방위는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확인하여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정확도를 올림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71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394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refresh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3570183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118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노면표시 자동 정합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560594"/>
            <a:ext cx="5468112" cy="3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 지나다닌 영역만 남긴 배경 화면에서 차선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페인트를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지도의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노면표시와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형상을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정밀화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화여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정합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줄임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5720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394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crosshai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5170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기준점 1~3점 마무리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5160794"/>
            <a:ext cx="5468112" cy="3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결과 위에 사람이 기준점 1점~3점만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찍으면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</a:t>
            </a:r>
            <a:endParaRPr lang="en-US" sz="900" dirty="0">
              <a:solidFill>
                <a:srgbClr val="5D718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 이상은 전체 재계산이라 자동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버려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지고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결과로 변환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967728" y="1335024"/>
            <a:ext cx="4718304" cy="3209544"/>
          </a:xfrm>
          <a:prstGeom prst="roundRect">
            <a:avLst>
              <a:gd name="adj" fmla="val 110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img/autocali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953" y="2154008"/>
            <a:ext cx="2397853" cy="1600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86600" y="42336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</a:rPr>
              <a:t>노면표시 자동 정합 화면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967728" y="4956048"/>
            <a:ext cx="4718304" cy="1069848"/>
          </a:xfrm>
          <a:prstGeom prst="roundRect">
            <a:avLst>
              <a:gd name="adj" fmla="val 352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7132320" y="4828032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713232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스펙트럼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132320" y="504748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b="1" dirty="0" err="1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</a:rPr>
              <a:t>신뢰</a:t>
            </a: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b="1" dirty="0" err="1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</a:rPr>
              <a:t>진단</a:t>
            </a: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000" b="1" dirty="0" err="1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</a:rPr>
              <a:t>내장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비용 곡면이 평탄하면 "결과를 믿지 말라"고 스스로 보고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 35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사람이 정한 기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준점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최종 정합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64991D7-2E23-B6F8-E801-155B4F5122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7337" y="1438590"/>
            <a:ext cx="4553245" cy="27036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Ⅴ-2.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기준점(GT) 작업 가이드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기준점을 추천하여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안내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ale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1969983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50249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6점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교차검증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969983"/>
            <a:ext cx="5468112" cy="3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4점은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오차가 항상 0으로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6점 이상을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요구하고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'진짜 정확도'로 표시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71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394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gri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3570183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10269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화면 9구역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570183"/>
            <a:ext cx="5468112" cy="3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원근 3구간×좌우 3구간에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7점도 세로 분포 52%면 오차 4.47m, 2%로 뭉치면 52.88m (12배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악화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</a:p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구역을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</a:t>
            </a:r>
            <a:r>
              <a:rPr lang="en-US" altLang="ko-KR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분포하도록 유도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5720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394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ey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5170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70289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타당성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검사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5170383"/>
            <a:ext cx="5468112" cy="39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변환식으로 차로 폭 3.5m·깊이 10m 격자를 화면에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되그려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육안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변환식을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분해해 나온 카메라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현실적인지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자동 판정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967728" y="1335024"/>
            <a:ext cx="4718304" cy="2235159"/>
          </a:xfrm>
          <a:prstGeom prst="roundRect">
            <a:avLst>
              <a:gd name="adj" fmla="val 110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img/gcp_c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8674" y="2319964"/>
            <a:ext cx="1249426" cy="83380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86600" y="33101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</a:t>
            </a:r>
            <a:r>
              <a:rPr lang="en-US" altLang="ko-KR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분포 화면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교차검증과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분포·타당성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품질을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250" dirty="0"/>
          </a:p>
        </p:txBody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65FF0FE7-2593-551B-5C89-9B3A1102CD3C}"/>
              </a:ext>
            </a:extLst>
          </p:cNvPr>
          <p:cNvSpPr/>
          <p:nvPr/>
        </p:nvSpPr>
        <p:spPr>
          <a:xfrm>
            <a:off x="6967728" y="3645040"/>
            <a:ext cx="4718304" cy="2390000"/>
          </a:xfrm>
          <a:prstGeom prst="roundRect">
            <a:avLst>
              <a:gd name="adj" fmla="val 1102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8A0AE5F4-A18D-F84A-4DD5-809128AF53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420123"/>
            <a:ext cx="3970708" cy="184954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77C5CFB-2900-E0BB-DF02-6B9D1C3301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566" y="3703319"/>
            <a:ext cx="3048332" cy="2046140"/>
          </a:xfrm>
          <a:prstGeom prst="rect">
            <a:avLst/>
          </a:prstGeom>
        </p:spPr>
      </p:pic>
      <p:sp>
        <p:nvSpPr>
          <p:cNvPr id="49" name="Text 29">
            <a:extLst>
              <a:ext uri="{FF2B5EF4-FFF2-40B4-BE49-F238E27FC236}">
                <a16:creationId xmlns:a16="http://schemas.microsoft.com/office/drawing/2014/main" id="{8AC2893F-C5A5-A457-C0FC-0D1E76D09593}"/>
              </a:ext>
            </a:extLst>
          </p:cNvPr>
          <p:cNvSpPr/>
          <p:nvPr/>
        </p:nvSpPr>
        <p:spPr>
          <a:xfrm>
            <a:off x="7045452" y="57909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 점은 클릭 지점 자동 추천 </a:t>
            </a:r>
            <a:r>
              <a:rPr lang="en-US" altLang="ko-KR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붉은 점은 직접 확인한 기준점 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Ⅵ-1.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정면·후면을 구분하는 방법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인식 상자에는 없는 '차의 앞뒤'를 세 단계로 복원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9496" y="18653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cons/tren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" y="1969983"/>
            <a:ext cx="266273" cy="2662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499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움직임에서 방향 읽기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24712" y="1981067"/>
            <a:ext cx="5468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궤적 8점에 직선을 맞추고 변위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부호로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결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순간 떨림은 속도 적응 평활과 프레임당 5° 회전 제한으로 억제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9718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39496" y="34655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compas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3570183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3099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정지·가림은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24712" y="3630168"/>
            <a:ext cx="5468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궤적이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차량은 차선 방향 사전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</a:t>
            </a:r>
            <a:r>
              <a:rPr lang="en-US" altLang="ko-KR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관측이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돌아오면 부드럽게 복귀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4572000"/>
            <a:ext cx="63093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39496" y="5065776"/>
            <a:ext cx="475488" cy="475488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icons/roa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" y="5170383"/>
            <a:ext cx="266273" cy="266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2471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차로의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ko-KR" alt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sz="11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주행 방향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24712" y="5230368"/>
            <a:ext cx="5468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정밀지도 차로 선은 그리기 방향이 곧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주행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ko-KR" alt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</a:t>
            </a:r>
            <a:r>
              <a:rPr lang="en-US" sz="900" dirty="0" err="1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차로에</a:t>
            </a: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정렬되면 서 있는 차도 정면이 확정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086600" y="1371600"/>
            <a:ext cx="4690872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7251192" y="1225296"/>
            <a:ext cx="1901952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7251192" y="1225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모형에서 앞뒤가 보인다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58952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7726680" y="2423160"/>
            <a:ext cx="274320" cy="274320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8732520" y="2423160"/>
            <a:ext cx="274320" cy="274320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/>
          <p:nvPr/>
        </p:nvSpPr>
        <p:spPr>
          <a:xfrm>
            <a:off x="7360920" y="2880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 — 전조등(노랑)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978408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9921240" y="24231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10927080" y="24231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9555480" y="2880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후면 — 미등(빨강)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7315200" y="3246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운전석을 뒤로 </a:t>
            </a:r>
            <a:r>
              <a:rPr lang="en-US" sz="9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치우친</a:t>
            </a: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실루엣</a:t>
            </a:r>
            <a:r>
              <a:rPr lang="ko-KR" alt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등화 색으로 진행 </a:t>
            </a:r>
            <a:r>
              <a:rPr lang="en-US" sz="9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</a:t>
            </a: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</a:t>
            </a: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7086600" y="4334256"/>
            <a:ext cx="4690872" cy="1746504"/>
          </a:xfrm>
          <a:prstGeom prst="roundRect">
            <a:avLst>
              <a:gd name="adj" fmla="val 2439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1"/>
          <p:cNvSpPr/>
          <p:nvPr/>
        </p:nvSpPr>
        <p:spPr>
          <a:xfrm>
            <a:off x="7251192" y="419709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7" name="Text 42"/>
          <p:cNvSpPr/>
          <p:nvPr/>
        </p:nvSpPr>
        <p:spPr>
          <a:xfrm>
            <a:off x="7251192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정렬 효과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72694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18.77°</a:t>
            </a:r>
            <a:r>
              <a:rPr lang="en-US" sz="11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1.94°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7269480" y="5029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방향 오차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95554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31건</a:t>
            </a:r>
            <a:r>
              <a:rPr lang="en-US" sz="11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r>
              <a:rPr lang="en-US" sz="1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9555480" y="5029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역방향 배치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7269480" y="55321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일관성을 차선 선택 비용에 반영한 결과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Text 49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지도의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규약을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검증하고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</a:t>
            </a: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있는 차도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정면이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</a:t>
            </a:r>
            <a:endParaRPr lang="en-US" sz="1250" dirty="0"/>
          </a:p>
        </p:txBody>
      </p:sp>
      <p:sp>
        <p:nvSpPr>
          <p:cNvPr id="55" name="Shape 5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Ⅵ-2.  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경로 학습과 방향 예측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좌표계 위에서 속도를 학습하고, 차로 곡선을 따라 움직임을 예측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76072" y="1225296"/>
            <a:ext cx="1901952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6072" y="1225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속도 지도 학습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1664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떨림이 통계를 오염시키지 않도록</a:t>
            </a:r>
            <a: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차로를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10m 구간으로 나눠 관측 트랙의 대표 속도를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구간별로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값은 15~120km/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h로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</a:t>
            </a:r>
            <a: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'측정'이 아닌 '표시'값임을 함께 기록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5577840" cy="2130552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76072" y="3813048"/>
            <a:ext cx="1504188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3813048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갈림길 선택 비율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" y="4133088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사이의 통행량을 세어 갈림길에서의 직진·좌회전·우회전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지도와 결합하면 관측이 없는 시간에도 차량이 차로를 따라 자연스러운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속도로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움직이는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합성 재현이 가능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137160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64224" y="1225296"/>
            <a:ext cx="269748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64224" y="12252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</a:t>
            </a:r>
            <a:r>
              <a:rPr lang="ko-KR" alt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지도 기하에서 유도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5936" y="1664208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별도의 예측 모델이 아니라 차로 곡선의 접선이 곧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등으로 관측이 끊기면 차량을 직선이 아닌 차로 곡선을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없이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전진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재등장 시 같은 차로 위에서 자연스럽게 이어짐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9632" y="3950208"/>
            <a:ext cx="5577840" cy="2130552"/>
          </a:xfrm>
          <a:prstGeom prst="roundRect">
            <a:avLst>
              <a:gd name="adj" fmla="val 204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64224" y="3813048"/>
            <a:ext cx="1504188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64224" y="3813048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한계 표기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4133088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고정은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이탈을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막는 장치이지, 올바른 차로를 골랐다는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보장은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아님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정확도가 전제 되어야 함</a:t>
            </a:r>
            <a: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트랙은 한 차선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사슬에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</a:t>
            </a:r>
            <a:r>
              <a:rPr lang="ko-KR" alt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</a:t>
            </a:r>
            <a:r>
              <a:rPr lang="en-US" altLang="ko-KR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변경·회전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동작은 아직 표현하지 </a:t>
            </a:r>
            <a:r>
              <a:rPr lang="en-US" sz="95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못함</a:t>
            </a: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(다음 단계 과제)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기하</a:t>
            </a:r>
            <a:r>
              <a:rPr lang="ko-KR" alt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</a:t>
            </a: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모델 없이도 차량이 차로를 따라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자연스럽게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Ⅵ-3.  </a:t>
            </a:r>
            <a:r>
              <a:rPr lang="en-US" sz="2000" b="1" dirty="0" err="1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r>
              <a:rPr lang="ko-KR" alt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</a:t>
            </a: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다음 단계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과제 성과 시연</a:t>
            </a: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그리고 정직하게 남긴 과제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79" y="1371600"/>
            <a:ext cx="6746793" cy="35021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76072" y="1225296"/>
            <a:ext cx="1636776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6072" y="1225296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과제 성과 시연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78624" y="1371600"/>
            <a:ext cx="4498848" cy="35021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434072" y="1225296"/>
            <a:ext cx="1371600" cy="274320"/>
          </a:xfrm>
          <a:prstGeom prst="rect">
            <a:avLst/>
          </a:prstGeom>
          <a:solidFill>
            <a:srgbClr val="173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434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11034" y="1700784"/>
            <a:ext cx="400184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정확도를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향상</a:t>
            </a:r>
            <a:b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</a:t>
            </a:r>
            <a:endParaRPr lang="en-US" sz="1000" dirty="0">
              <a:solidFill>
                <a:srgbClr val="22384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현재는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한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사슬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</a:t>
            </a:r>
            <a:b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</a:t>
            </a:r>
            <a:b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▪"/>
            </a:pP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altLang="ko-KR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개인정보 마스킹 체계화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5477256"/>
            <a:ext cx="11365992" cy="987552"/>
          </a:xfrm>
          <a:prstGeom prst="roundRect">
            <a:avLst>
              <a:gd name="adj" fmla="val 4000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2960" y="55686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GEOSTORY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22960" y="6007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</a:t>
            </a:r>
            <a:r>
              <a:rPr lang="ko-KR" altLang="en-US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기반 </a:t>
            </a:r>
            <a:r>
              <a:rPr lang="en-US" altLang="ko-KR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</a:t>
            </a:r>
            <a:r>
              <a:rPr lang="ko-KR" altLang="en-US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</a:t>
            </a:r>
            <a:r>
              <a:rPr lang="en-US" altLang="ko-KR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트윈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69680" y="5678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r>
              <a:rPr lang="ko-KR" altLang="en-US" sz="130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기술연구본부 </a:t>
            </a:r>
            <a:r>
              <a:rPr lang="en-US" altLang="ko-KR" sz="130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130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기획팀 학생연구원 홍기혁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69680" y="6044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Ⅰ-1.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현황 — 같은 방향으로 가고 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인식(AI)과 정밀지도(3D)의 결합이 관제 고도화의 공통 흐름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5778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1225296"/>
            <a:ext cx="269748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2252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— AI 관제 전환이 본격화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" y="1801368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2" name="Image 0" descr="icons/vide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1889882"/>
            <a:ext cx="225308" cy="2253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70432" y="1755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고속도로 CCTV의 AI 분석 전환 착수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70432" y="2002536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한국도로공사가 전국 고속도로 CCTV 4,700개 채널을 AI 영상분석 체계로 전환하는 사업을 발주 (2026) — 사람이 화면을 지켜보던 관제가 기계가 먼저 읽는 관제로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792" y="2752344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6" name="Image 1" descr="icons/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2840858"/>
            <a:ext cx="225308" cy="2253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70432" y="27066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통합관제의 AI 확산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170432" y="2953512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지자체 CCTV 통합관제센터가 차량·보행자 자동 인식, 사고·정체 자동 감지를 도입 — 다만 대부분 '2D 영상 나열' 화면에 머무는 단계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21792" y="3703320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3791834"/>
            <a:ext cx="225308" cy="2253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70432" y="3657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기반 데이터는 이미 준비됨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1170432" y="3904488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정밀도로지도(차선 단위)·공공 CCTV 개방 API 등 결합에 필요한 재료가 무상 개방 — 결합 사례는 아직 드묾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199632" y="1371600"/>
            <a:ext cx="55778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64224" y="1225296"/>
            <a:ext cx="2962656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35" name="Text 30"/>
          <p:cNvSpPr/>
          <p:nvPr/>
        </p:nvSpPr>
        <p:spPr>
          <a:xfrm>
            <a:off x="6364224" y="122529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— 영상을 3D 도시 모델 위로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400800" y="1801368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7" name="Image 3" descr="icons/wor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314" y="1889882"/>
            <a:ext cx="225308" cy="2253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49440" y="1755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영상 → 3D 도시 재현 플랫폼 상용화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6949440" y="2002536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AI 기업들이 도시 카메라 영상을 3D 도시 모델 위에 실시간 재현하는 관제 플랫폼을 출시 (2025) — 스마트시티 표준 청사진으로 제시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400800" y="2752344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1" name="Image 4" descr="icons/satellit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314" y="2840858"/>
            <a:ext cx="225308" cy="2253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49440" y="27066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 규모 실증 진행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6949440" y="2953512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대만 가오슝 등에서 수백 대 카메라를 도시 3D 모델과 결합한 재난·교통 관제 실증 — 캠퍼스·공항 단위 적용 사례도 확산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400800" y="3703320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5" name="Image 5" descr="icons/tren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314" y="3791834"/>
            <a:ext cx="225308" cy="22530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949440" y="3657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관제의 정의가 바뀌는 중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949440" y="3904488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'화면을 감시한다'에서 '도시 전체 상황을 지도 위에서 재현하고 질문한다'로 — 3차원 투영과 대화형 질의가 차세대 관제의 핵심 요소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411480" y="4800600"/>
            <a:ext cx="11365992" cy="1280160"/>
          </a:xfrm>
          <a:prstGeom prst="roundRect">
            <a:avLst>
              <a:gd name="adj" fmla="val 3571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76072" y="4654296"/>
            <a:ext cx="708660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50" name="Text 42"/>
          <p:cNvSpPr/>
          <p:nvPr/>
        </p:nvSpPr>
        <p:spPr>
          <a:xfrm>
            <a:off x="576072" y="4654296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21792" y="50292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CCTV 영상의 객체·방향 정보를 정밀도로지도 위에 3차원으로 정확히 투영하는 고도화가 국내외 공통 과제.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프로젝트는 공개 영상·공개 지도·로컬 AI만으로 이 결합을 실증한 축소판이다.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3" name="Text 45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인식 + 정밀지도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결합 — 세계가 향하는 방향을 공개 자원으로 실증</a:t>
            </a:r>
            <a:endParaRPr lang="en-US" sz="1250" dirty="0"/>
          </a:p>
        </p:txBody>
      </p:sp>
      <p:sp>
        <p:nvSpPr>
          <p:cNvPr id="54" name="Shape 46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5" name="Text 47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Ⅰ-2.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과제의 원인 — 풀 수 있는 것과 없는 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 기준: 소프트웨어와 절차로 바꿀 수 있는가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57784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1225296"/>
            <a:ext cx="3108960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225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시스템으로 해결 가능한 원인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" y="1819656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2" name="Image 0" descr="icons/p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1908170"/>
            <a:ext cx="225308" cy="2253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70432" y="1773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위치·자세 정보의 부정확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70432" y="2020824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좌표가 실제와 최대 793m 어긋남 → 보정 절차로 대체 좌표를 만들 수 있다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792" y="2624328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6" name="Image 1" descr="icons/refres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2712842"/>
            <a:ext cx="225308" cy="2253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70432" y="2578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카메라마다 반복되는 수작업 설정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170432" y="2825496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대당 수십 분의 수동 보정 → 자동화 + 최소 클릭 절차로 줄일 수 있다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21792" y="3429000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0" name="Image 2" descr="icons/filt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3517514"/>
            <a:ext cx="225308" cy="2253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70432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인식(오탐)과 검증 부재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1170432" y="3630168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글자·도로 밖 오인 → 걸러내는 장치와 정답 채점 체계로 관리할 수 있다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21792" y="4233672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4" name="Image 3" descr="icons/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4322186"/>
            <a:ext cx="225308" cy="2253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70432" y="41879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따로, 지도 따로, 통계 따로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1170432" y="4434840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분리된 화면들 → 지도·DB·질의를 한 화면으로 묶는 설계로 해소할 수 있다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199632" y="1371600"/>
            <a:ext cx="557784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364224" y="1225296"/>
            <a:ext cx="310896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3"/>
          <p:cNvSpPr/>
          <p:nvPr/>
        </p:nvSpPr>
        <p:spPr>
          <a:xfrm>
            <a:off x="6364224" y="1225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수용해야 할 제약 (시스템 밖의 원인)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400800" y="1819656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1" name="Image 4" descr="icons/camera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314" y="1908170"/>
            <a:ext cx="225308" cy="2253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49440" y="1773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화질 그 자체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6949440" y="2020824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 차량은 11×8픽셀 — 카메라 교체 없이는 소프트웨어로 만들 수 없는 정보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400800" y="2624328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5" name="Image 5" descr="icons/ale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314" y="2712842"/>
            <a:ext cx="225308" cy="22530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949440" y="2578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날씨·야간·역광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949440" y="2825496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비·안개·조명 변화로 인한 인식 저하 — 완화는 가능하나 근본 제거 불가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400800" y="3429000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9" name="Image 6" descr="icons/ey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314" y="3517514"/>
            <a:ext cx="225308" cy="22530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94944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가림</a:t>
            </a:r>
            <a:endParaRPr lang="en-US" sz="1050" dirty="0"/>
          </a:p>
        </p:txBody>
      </p:sp>
      <p:sp>
        <p:nvSpPr>
          <p:cNvPr id="51" name="Text 42"/>
          <p:cNvSpPr/>
          <p:nvPr/>
        </p:nvSpPr>
        <p:spPr>
          <a:xfrm>
            <a:off x="6949440" y="3630168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구조물·대형차 뒤 시야는 어떤 알고리즘도 볼 수 없음 — 예측으로 보완만 가능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6400800" y="4233672"/>
            <a:ext cx="402336" cy="402336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53" name="Image 7" descr="icons/lo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314" y="4322186"/>
            <a:ext cx="225308" cy="22530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949440" y="41879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개인정보·제도 제약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6949440" y="4434840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번호판·얼굴의 저장·공개 제한 — 기술이 아니라 제도가 정하는 경계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411480" y="5623560"/>
            <a:ext cx="11365992" cy="566928"/>
          </a:xfrm>
          <a:prstGeom prst="roundRect">
            <a:avLst>
              <a:gd name="adj" fmla="val 8065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621792" y="56235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원칙  </a:t>
            </a:r>
            <a:pPr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수 있는 원인에는 시스템을 만들고, 풀 수 없는 제약은 숨기지 않고 한계로 명시한다 — 다음 장의 로드맵은 왼쪽 네 가지에 집중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9" name="Text 49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가려내는 것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고도화의 첫걸음 — 해결 가능한 네 가지에 집중한다</a:t>
            </a:r>
            <a:endParaRPr lang="en-US" sz="1250" dirty="0"/>
          </a:p>
        </p:txBody>
      </p:sp>
      <p:sp>
        <p:nvSpPr>
          <p:cNvPr id="60" name="Shape 50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61" name="Text 51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Ⅰ-3.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— 해결 가능한 원인별 수행 방법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→ 정밀화 → 검증 → 확산, 4단계로 시스템을 구축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26974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243584"/>
            <a:ext cx="1234440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" y="1243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 기반 구축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7784" y="1627632"/>
            <a:ext cx="420624" cy="42062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2" name="Image 0" descr="icons/down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1720169"/>
            <a:ext cx="235549" cy="23554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60" y="2139696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영상·공개 정밀지도 수집과 표준 절차 정립 — 모든 카메라가 같은 길을 밟게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136392" y="2103120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25" name="Shape 22"/>
          <p:cNvSpPr/>
          <p:nvPr/>
        </p:nvSpPr>
        <p:spPr>
          <a:xfrm>
            <a:off x="3300984" y="1371600"/>
            <a:ext cx="2697480" cy="1783080"/>
          </a:xfrm>
          <a:prstGeom prst="roundRect">
            <a:avLst>
              <a:gd name="adj" fmla="val 2564"/>
            </a:avLst>
          </a:prstGeom>
          <a:solidFill>
            <a:srgbClr val="F4F8FB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29000" y="1243584"/>
            <a:ext cx="1234440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27" name="Text 24"/>
          <p:cNvSpPr/>
          <p:nvPr/>
        </p:nvSpPr>
        <p:spPr>
          <a:xfrm>
            <a:off x="3429000" y="1243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 정밀화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447288" y="1627632"/>
            <a:ext cx="420624" cy="42062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9" name="Image 1" descr="icons/crosshai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825" y="1720169"/>
            <a:ext cx="235549" cy="235549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483864" y="2139696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보정이 거친 정렬, 사람은 확인 몇 번 — 카메라를 실측 위치·정확한 좌표로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025896" y="2103120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32" name="Shape 28"/>
          <p:cNvSpPr/>
          <p:nvPr/>
        </p:nvSpPr>
        <p:spPr>
          <a:xfrm>
            <a:off x="6190488" y="1371600"/>
            <a:ext cx="26974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18504" y="1243584"/>
            <a:ext cx="1234440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34" name="Text 30"/>
          <p:cNvSpPr/>
          <p:nvPr/>
        </p:nvSpPr>
        <p:spPr>
          <a:xfrm>
            <a:off x="6318504" y="1243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 검증 체계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6336792" y="1627632"/>
            <a:ext cx="420624" cy="42062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6" name="Image 2" descr="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29" y="1720169"/>
            <a:ext cx="235549" cy="235549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373368" y="2139696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채점과 이상 감지 내장 — 효과 없는 개선은 수치로 걸러 조기 폐기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8915400" y="2103120"/>
            <a:ext cx="310896" cy="310896"/>
          </a:xfrm>
          <a:prstGeom prst="chevron">
            <a:avLst/>
          </a:prstGeom>
          <a:solidFill>
            <a:srgbClr val="17375E"/>
          </a:solidFill>
          <a:ln/>
        </p:spPr>
      </p:sp>
      <p:sp>
        <p:nvSpPr>
          <p:cNvPr id="39" name="Shape 34"/>
          <p:cNvSpPr/>
          <p:nvPr/>
        </p:nvSpPr>
        <p:spPr>
          <a:xfrm>
            <a:off x="9079992" y="1371600"/>
            <a:ext cx="26974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208008" y="1243584"/>
            <a:ext cx="1234440" cy="274320"/>
          </a:xfrm>
          <a:prstGeom prst="rect">
            <a:avLst/>
          </a:prstGeom>
          <a:solidFill>
            <a:srgbClr val="0E7A6A"/>
          </a:solidFill>
          <a:ln/>
        </p:spPr>
      </p:sp>
      <p:sp>
        <p:nvSpPr>
          <p:cNvPr id="41" name="Text 36"/>
          <p:cNvSpPr/>
          <p:nvPr/>
        </p:nvSpPr>
        <p:spPr>
          <a:xfrm>
            <a:off x="9208008" y="1243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 확산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9226296" y="1627632"/>
            <a:ext cx="420624" cy="420624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3" name="Image 3" descr="icons/tre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833" y="1720169"/>
            <a:ext cx="235549" cy="235549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262872" y="2139696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1대 추가 비용 최소화 — 축적된 절차로 도시 단위 확장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411480" y="3429000"/>
            <a:ext cx="11365992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76072" y="3282696"/>
            <a:ext cx="3493008" cy="27432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7" name="Text 41"/>
          <p:cNvSpPr/>
          <p:nvPr/>
        </p:nvSpPr>
        <p:spPr>
          <a:xfrm>
            <a:off x="576072" y="328269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→ 수행 방법 (해결 가능한 네 가지)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621792" y="37033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위치·자세 부정확</a:t>
            </a:r>
            <a:pPr indent="0" marL="0">
              <a:buNone/>
            </a:pPr>
            <a:r>
              <a:rPr lang="en-US" sz="8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2단계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621792" y="39502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보정으로 거친 정렬 후, 정밀지도의 측량 정점을 기준점으로 사용 — 공공 좌표 대신 실측 기반 좌표로 교체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6245352" y="37033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설정 비용</a:t>
            </a:r>
            <a:pPr indent="0" marL="0">
              <a:buNone/>
            </a:pPr>
            <a:r>
              <a:rPr lang="en-US" sz="8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1·2단계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6245352" y="39502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0번의 자동 시작 → 사람은 마무리 확인 1~3회 — 표준 절차서로 누구나 같은 품질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621792" y="48463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오탐과 검증 부재</a:t>
            </a:r>
            <a:pPr indent="0" marL="0">
              <a:buNone/>
            </a:pPr>
            <a:r>
              <a:rPr lang="en-US" sz="8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3단계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621792" y="50932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인식 후보를 사람이 승인하는 안전장치 + 같은 정답으로 채점하는 평가 체계 상시 운영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6245352" y="48463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 운영</a:t>
            </a:r>
            <a:pPr indent="0" marL="0">
              <a:buNone/>
            </a:pPr>
            <a:r>
              <a:rPr lang="en-US" sz="8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1·4단계</a:t>
            </a:r>
            <a:endParaRPr lang="en-US" sz="1050" dirty="0"/>
          </a:p>
        </p:txBody>
      </p:sp>
      <p:sp>
        <p:nvSpPr>
          <p:cNvPr id="55" name="Text 49"/>
          <p:cNvSpPr/>
          <p:nvPr/>
        </p:nvSpPr>
        <p:spPr>
          <a:xfrm>
            <a:off x="6245352" y="50932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관찰·3D 재현·DB 통계·대화형 질의를 한 화면에 — 데이터가 한 저장소에서 순환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7" name="Text 51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시스템과 절차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해답 — 사람의 감이 아니라 구축된 체계가 품질을 만든다</a:t>
            </a:r>
            <a:endParaRPr lang="en-US" sz="1250" dirty="0"/>
          </a:p>
        </p:txBody>
      </p:sp>
      <p:sp>
        <p:nvSpPr>
          <p:cNvPr id="58" name="Shape 52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9" name="Text 53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GeoTrafficView-3D  ·  CCTV 교통 디지털 트윈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384048"/>
            <a:ext cx="59436" cy="512064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Ⅰ-4.  </a:t>
            </a:r>
            <a:pPr algn="l" indent="0" marL="0">
              <a:buNone/>
            </a:pPr>
            <a:r>
              <a:rPr lang="en-US" sz="20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효율성 개선 — 네 가지 개념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적게 계산하고, 적게 클릭하고, 빨리 버리고, 공짜 재료를 쓴다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011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 개요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20116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 판교 사례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862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 객체 탐지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 지도·연동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201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 위치 보정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70464" y="201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 이동 고도화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557784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151790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0" name="Image 0" descr="icons/refres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1848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4712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계산, 여러 번 재사용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2029968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비싼 계산(영상 인식)은 한 번만 수행해 저장하고, 설정이 바뀌면 가벼운 재계산만 다시 한다.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4160520" y="2029968"/>
            <a:ext cx="7315" cy="1371600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24" name="Text 21"/>
          <p:cNvSpPr/>
          <p:nvPr/>
        </p:nvSpPr>
        <p:spPr>
          <a:xfrm>
            <a:off x="425196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분 → 몇 초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25196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변경 시 재작업 시간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99632" y="1371600"/>
            <a:ext cx="557784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45936" y="151790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28" name="Image 1" descr="icons/crosshai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1848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912864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손은 마지막 한 걸음에만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382512" y="2029968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기계가 할 수 있는 거친 정렬은 전부 자동에 맡기고, 사람은 정밀도를 결정하는 확인 클릭만 담당한다.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9948672" y="2029968"/>
            <a:ext cx="7315" cy="1371600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32" name="Text 28"/>
          <p:cNvSpPr/>
          <p:nvPr/>
        </p:nvSpPr>
        <p:spPr>
          <a:xfrm>
            <a:off x="10040112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6~8회 → 1~3회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1004011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카메라당 확인 클릭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11480" y="3749040"/>
            <a:ext cx="557784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57784" y="38953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36" name="Image 2" descr="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95928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124712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버릴 것을 빨리 버린다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94360" y="4407408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개선 시도를 같은 정답으로 채점해, 그럴듯해 보여도 효과 없는 방법은 수치로 확인 후 조기 폐기한다.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4160520" y="4407408"/>
            <a:ext cx="7315" cy="1371600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40" name="Text 35"/>
          <p:cNvSpPr/>
          <p:nvPr/>
        </p:nvSpPr>
        <p:spPr>
          <a:xfrm>
            <a:off x="4251960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 폐기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4251960" y="5212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채점으로 걸러낸 '가짜 개선'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6199632" y="3749040"/>
            <a:ext cx="557784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9E3E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45936" y="3895344"/>
            <a:ext cx="457200" cy="457200"/>
          </a:xfrm>
          <a:prstGeom prst="ellipse">
            <a:avLst/>
          </a:prstGeom>
          <a:solidFill>
            <a:srgbClr val="EFF4F8"/>
          </a:solidFill>
          <a:ln w="9525">
            <a:solidFill>
              <a:srgbClr val="D9E3ED"/>
            </a:solidFill>
            <a:prstDash val="solid"/>
          </a:ln>
        </p:spPr>
      </p:sp>
      <p:pic>
        <p:nvPicPr>
          <p:cNvPr id="44" name="Image 3" descr="icons/wor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995928"/>
            <a:ext cx="256032" cy="25603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912864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0의 재료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382512" y="4407408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30" dirty="0">
                <a:solidFill>
                  <a:srgbClr val="2238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CCTV 영상, 무상 정밀지도, 인증 없는 위성지도, 내 컴퓨터에서 도는 AI — 사용료가 발생하는 요소가 없다.</a:t>
            </a:r>
            <a:endParaRPr lang="en-US" sz="930" dirty="0"/>
          </a:p>
        </p:txBody>
      </p:sp>
      <p:sp>
        <p:nvSpPr>
          <p:cNvPr id="47" name="Shape 41"/>
          <p:cNvSpPr/>
          <p:nvPr/>
        </p:nvSpPr>
        <p:spPr>
          <a:xfrm>
            <a:off x="9948672" y="4407408"/>
            <a:ext cx="7315" cy="1371600"/>
          </a:xfrm>
          <a:prstGeom prst="rect">
            <a:avLst/>
          </a:prstGeom>
          <a:solidFill>
            <a:srgbClr val="D9E3ED"/>
          </a:solidFill>
          <a:ln/>
        </p:spPr>
      </p:sp>
      <p:sp>
        <p:nvSpPr>
          <p:cNvPr id="48" name="Text 42"/>
          <p:cNvSpPr/>
          <p:nvPr/>
        </p:nvSpPr>
        <p:spPr>
          <a:xfrm>
            <a:off x="10040112" y="4617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500" dirty="0"/>
          </a:p>
        </p:txBody>
      </p:sp>
      <p:sp>
        <p:nvSpPr>
          <p:cNvPr id="49" name="Text 43"/>
          <p:cNvSpPr/>
          <p:nvPr/>
        </p:nvSpPr>
        <p:spPr>
          <a:xfrm>
            <a:off x="10040112" y="5212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D71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지도·영상·AI 사용료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0" y="6336792"/>
            <a:ext cx="12188952" cy="521208"/>
          </a:xfrm>
          <a:prstGeom prst="rect">
            <a:avLst/>
          </a:prstGeom>
          <a:solidFill>
            <a:srgbClr val="0B5F54"/>
          </a:solidFill>
          <a:ln/>
        </p:spPr>
      </p:sp>
      <p:sp>
        <p:nvSpPr>
          <p:cNvPr id="51" name="Text 45"/>
          <p:cNvSpPr/>
          <p:nvPr/>
        </p:nvSpPr>
        <p:spPr>
          <a:xfrm>
            <a:off x="365760" y="6336792"/>
            <a:ext cx="11457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효율은 속도가 아니라 구조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나온다 — 같은 일을 두 번 하지 않는 설계</a:t>
            </a:r>
            <a:endParaRPr lang="en-US" sz="1250" dirty="0"/>
          </a:p>
        </p:txBody>
      </p:sp>
      <p:sp>
        <p:nvSpPr>
          <p:cNvPr id="52" name="Shape 46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solidFill>
            <a:srgbClr val="DFE7EF"/>
          </a:solidFill>
          <a:ln/>
        </p:spPr>
      </p:sp>
      <p:sp>
        <p:nvSpPr>
          <p:cNvPr id="53" name="Text 47"/>
          <p:cNvSpPr/>
          <p:nvPr/>
        </p:nvSpPr>
        <p:spPr>
          <a:xfrm>
            <a:off x="11823192" y="6519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7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3201</Words>
  <Application>Microsoft Office PowerPoint</Application>
  <PresentationFormat>와이드스크린</PresentationFormat>
  <Paragraphs>509</Paragraphs>
  <Slides>18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홍기혁[컴퓨터시스템공학과]</cp:lastModifiedBy>
  <cp:revision>7</cp:revision>
  <dcterms:created xsi:type="dcterms:W3CDTF">2026-07-28T09:47:10Z</dcterms:created>
  <dcterms:modified xsi:type="dcterms:W3CDTF">2026-07-30T04:22:38Z</dcterms:modified>
</cp:coreProperties>
</file>