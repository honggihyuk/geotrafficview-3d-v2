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3786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35240" y="0"/>
            <a:ext cx="4553712" cy="68580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35240" y="0"/>
            <a:ext cx="54864" cy="685800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092440" y="658368"/>
            <a:ext cx="566928" cy="566928"/>
          </a:xfrm>
          <a:prstGeom prst="ellipse">
            <a:avLst/>
          </a:prstGeom>
          <a:solidFill>
            <a:srgbClr val="123B6D"/>
          </a:solidFill>
          <a:ln w="12700">
            <a:solidFill>
              <a:srgbClr val="3D5E9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795528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796528" y="6400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CCTV 수집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796528" y="9326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FC6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ITS · TOPIS · UTIC — HLS 스트림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284464" y="1280160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E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092440" y="1828800"/>
            <a:ext cx="566928" cy="566928"/>
          </a:xfrm>
          <a:prstGeom prst="ellipse">
            <a:avLst/>
          </a:prstGeom>
          <a:solidFill>
            <a:srgbClr val="123B6D"/>
          </a:solidFill>
          <a:ln w="12700">
            <a:solidFill>
              <a:srgbClr val="3D5E9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96596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796528" y="181051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객체 탐지·추적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796528" y="2103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FC6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VisDrone YOLOv8 + SAHI · ByteTrack/BEV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8284464" y="245059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E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8092440" y="2999232"/>
            <a:ext cx="566928" cy="566928"/>
          </a:xfrm>
          <a:prstGeom prst="ellipse">
            <a:avLst/>
          </a:prstGeom>
          <a:solidFill>
            <a:srgbClr val="123B6D"/>
          </a:solidFill>
          <a:ln w="12700">
            <a:solidFill>
              <a:srgbClr val="3D5E9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3136392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796528" y="298094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기하 변환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796528" y="32735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FC6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GCP 캘리브레이션 → UTM52N 실좌표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8284464" y="3621024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E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8092440" y="4169664"/>
            <a:ext cx="566928" cy="566928"/>
          </a:xfrm>
          <a:prstGeom prst="ellipse">
            <a:avLst/>
          </a:prstGeom>
          <a:solidFill>
            <a:srgbClr val="123B6D"/>
          </a:solidFill>
          <a:ln w="12700">
            <a:solidFill>
              <a:srgbClr val="3D5E9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4306824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796528" y="415137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표출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8796528" y="44439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FC6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MapLibre 위성맵 · fill-extrusion</a:t>
            </a:r>
            <a:endParaRPr lang="en-US" sz="850" dirty="0"/>
          </a:p>
        </p:txBody>
      </p:sp>
      <p:sp>
        <p:nvSpPr>
          <p:cNvPr id="23" name="Text 17"/>
          <p:cNvSpPr/>
          <p:nvPr/>
        </p:nvSpPr>
        <p:spPr>
          <a:xfrm>
            <a:off x="8284464" y="4791456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E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8092440" y="5340096"/>
            <a:ext cx="566928" cy="566928"/>
          </a:xfrm>
          <a:prstGeom prst="ellipse">
            <a:avLst/>
          </a:prstGeom>
          <a:solidFill>
            <a:srgbClr val="123B6D"/>
          </a:solidFill>
          <a:ln w="12700">
            <a:solidFill>
              <a:srgbClr val="3D5E9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5477256"/>
            <a:ext cx="292608" cy="29260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796528" y="532180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· LLM 질의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8796528" y="56144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FC6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PostGIS/SQLite · Ollama Qwen NL2SQL</a:t>
            </a:r>
            <a:endParaRPr lang="en-US" sz="850" dirty="0"/>
          </a:p>
        </p:txBody>
      </p:sp>
      <p:sp>
        <p:nvSpPr>
          <p:cNvPr id="28" name="Text 21"/>
          <p:cNvSpPr/>
          <p:nvPr/>
        </p:nvSpPr>
        <p:spPr>
          <a:xfrm>
            <a:off x="685800" y="685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TECHNICAL REPORT   |   2026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658368" y="137160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GeoTrafficView-3D</a:t>
            </a:r>
            <a:endParaRPr lang="en-US" sz="4000" dirty="0"/>
          </a:p>
        </p:txBody>
      </p:sp>
      <p:sp>
        <p:nvSpPr>
          <p:cNvPr id="30" name="Text 23"/>
          <p:cNvSpPr/>
          <p:nvPr/>
        </p:nvSpPr>
        <p:spPr>
          <a:xfrm>
            <a:off x="685800" y="2212848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CCTV 기반 실세계 좌표 교통 디지털 트윈</a:t>
            </a:r>
            <a:endParaRPr lang="en-US" sz="2000" dirty="0"/>
          </a:p>
        </p:txBody>
      </p:sp>
      <p:sp>
        <p:nvSpPr>
          <p:cNvPr id="31" name="Text 24"/>
          <p:cNvSpPr/>
          <p:nvPr/>
        </p:nvSpPr>
        <p:spPr>
          <a:xfrm>
            <a:off x="685800" y="276148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CCTV 수집 · 객체 탐지 · GIS 3D 표현 · 공간 DB 저장 · LLM 자연어 질의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685800" y="3429000"/>
            <a:ext cx="3566160" cy="347472"/>
          </a:xfrm>
          <a:prstGeom prst="roundRect">
            <a:avLst>
              <a:gd name="adj" fmla="val 13158"/>
            </a:avLst>
          </a:prstGeom>
          <a:solidFill>
            <a:srgbClr val="F2F7FC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528" y="3511296"/>
            <a:ext cx="182880" cy="18288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051560" y="34290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TOPIS × 정밀도로지도 cm급 결합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685800" y="3886200"/>
            <a:ext cx="3566160" cy="347472"/>
          </a:xfrm>
          <a:prstGeom prst="roundRect">
            <a:avLst>
              <a:gd name="adj" fmla="val 13158"/>
            </a:avLst>
          </a:prstGeom>
          <a:solidFill>
            <a:srgbClr val="F2F7FC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528" y="3968496"/>
            <a:ext cx="182880" cy="18288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051560" y="38862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MapLibre 위성맵 3D 이동체</a:t>
            </a:r>
            <a:endParaRPr lang="en-US" sz="1100" dirty="0"/>
          </a:p>
        </p:txBody>
      </p:sp>
      <p:sp>
        <p:nvSpPr>
          <p:cNvPr id="38" name="Shape 29"/>
          <p:cNvSpPr/>
          <p:nvPr/>
        </p:nvSpPr>
        <p:spPr>
          <a:xfrm>
            <a:off x="685800" y="4343400"/>
            <a:ext cx="3566160" cy="347472"/>
          </a:xfrm>
          <a:prstGeom prst="roundRect">
            <a:avLst>
              <a:gd name="adj" fmla="val 13158"/>
            </a:avLst>
          </a:prstGeom>
          <a:solidFill>
            <a:srgbClr val="F2F7FC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528" y="4425696"/>
            <a:ext cx="182880" cy="18288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1051560" y="43434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GCP 자동 캘리브레이션</a:t>
            </a:r>
            <a:endParaRPr lang="en-US" sz="1100" dirty="0"/>
          </a:p>
        </p:txBody>
      </p:sp>
      <p:sp>
        <p:nvSpPr>
          <p:cNvPr id="41" name="Shape 31"/>
          <p:cNvSpPr/>
          <p:nvPr/>
        </p:nvSpPr>
        <p:spPr>
          <a:xfrm>
            <a:off x="685800" y="5230368"/>
            <a:ext cx="457200" cy="457200"/>
          </a:xfrm>
          <a:prstGeom prst="ellipse">
            <a:avLst/>
          </a:prstGeom>
          <a:solidFill>
            <a:srgbClr val="EAF2FA"/>
          </a:solidFill>
          <a:ln w="635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4672" y="5349240"/>
            <a:ext cx="219456" cy="219456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576072" y="574243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정확성</a:t>
            </a:r>
            <a:endParaRPr lang="en-US" sz="1100" dirty="0"/>
          </a:p>
        </p:txBody>
      </p:sp>
      <p:sp>
        <p:nvSpPr>
          <p:cNvPr id="44" name="Text 33"/>
          <p:cNvSpPr/>
          <p:nvPr/>
        </p:nvSpPr>
        <p:spPr>
          <a:xfrm>
            <a:off x="246888" y="59801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실측·측정 기반 검증</a:t>
            </a:r>
            <a:endParaRPr lang="en-US" sz="750" dirty="0"/>
          </a:p>
        </p:txBody>
      </p:sp>
      <p:sp>
        <p:nvSpPr>
          <p:cNvPr id="45" name="Shape 34"/>
          <p:cNvSpPr/>
          <p:nvPr/>
        </p:nvSpPr>
        <p:spPr>
          <a:xfrm>
            <a:off x="2441448" y="5230368"/>
            <a:ext cx="457200" cy="457200"/>
          </a:xfrm>
          <a:prstGeom prst="ellipse">
            <a:avLst/>
          </a:prstGeom>
          <a:solidFill>
            <a:srgbClr val="EAF2FA"/>
          </a:solidFill>
          <a:ln w="635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60320" y="5349240"/>
            <a:ext cx="219456" cy="219456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2331720" y="574243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</a:t>
            </a:r>
            <a:endParaRPr lang="en-US" sz="1100" dirty="0"/>
          </a:p>
        </p:txBody>
      </p:sp>
      <p:sp>
        <p:nvSpPr>
          <p:cNvPr id="48" name="Text 36"/>
          <p:cNvSpPr/>
          <p:nvPr/>
        </p:nvSpPr>
        <p:spPr>
          <a:xfrm>
            <a:off x="2002536" y="59801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0클릭 캘리브레이션</a:t>
            </a:r>
            <a:endParaRPr lang="en-US" sz="750" dirty="0"/>
          </a:p>
        </p:txBody>
      </p:sp>
      <p:sp>
        <p:nvSpPr>
          <p:cNvPr id="49" name="Shape 37"/>
          <p:cNvSpPr/>
          <p:nvPr/>
        </p:nvSpPr>
        <p:spPr>
          <a:xfrm>
            <a:off x="4197096" y="5230368"/>
            <a:ext cx="457200" cy="457200"/>
          </a:xfrm>
          <a:prstGeom prst="ellipse">
            <a:avLst/>
          </a:prstGeom>
          <a:solidFill>
            <a:srgbClr val="EAF2FA"/>
          </a:solidFill>
          <a:ln w="635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0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15968" y="5349240"/>
            <a:ext cx="219456" cy="219456"/>
          </a:xfrm>
          <a:prstGeom prst="rect">
            <a:avLst/>
          </a:prstGeom>
        </p:spPr>
      </p:pic>
      <p:sp>
        <p:nvSpPr>
          <p:cNvPr id="51" name="Text 38"/>
          <p:cNvSpPr/>
          <p:nvPr/>
        </p:nvSpPr>
        <p:spPr>
          <a:xfrm>
            <a:off x="4087368" y="574243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통합성</a:t>
            </a:r>
            <a:endParaRPr lang="en-US" sz="1100" dirty="0"/>
          </a:p>
        </p:txBody>
      </p:sp>
      <p:sp>
        <p:nvSpPr>
          <p:cNvPr id="52" name="Text 39"/>
          <p:cNvSpPr/>
          <p:nvPr/>
        </p:nvSpPr>
        <p:spPr>
          <a:xfrm>
            <a:off x="3758184" y="59801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수집→표출→질의 일원화</a:t>
            </a:r>
            <a:endParaRPr lang="en-US" sz="750" dirty="0"/>
          </a:p>
        </p:txBody>
      </p:sp>
      <p:sp>
        <p:nvSpPr>
          <p:cNvPr id="53" name="Shape 40"/>
          <p:cNvSpPr/>
          <p:nvPr/>
        </p:nvSpPr>
        <p:spPr>
          <a:xfrm>
            <a:off x="5952744" y="5230368"/>
            <a:ext cx="457200" cy="457200"/>
          </a:xfrm>
          <a:prstGeom prst="ellipse">
            <a:avLst/>
          </a:prstGeom>
          <a:solidFill>
            <a:srgbClr val="EAF2FA"/>
          </a:solidFill>
          <a:ln w="635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4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71616" y="5349240"/>
            <a:ext cx="219456" cy="219456"/>
          </a:xfrm>
          <a:prstGeom prst="rect">
            <a:avLst/>
          </a:prstGeom>
        </p:spPr>
      </p:pic>
      <p:sp>
        <p:nvSpPr>
          <p:cNvPr id="55" name="Text 41"/>
          <p:cNvSpPr/>
          <p:nvPr/>
        </p:nvSpPr>
        <p:spPr>
          <a:xfrm>
            <a:off x="5843016" y="574243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확장성</a:t>
            </a:r>
            <a:endParaRPr lang="en-US" sz="1100" dirty="0"/>
          </a:p>
        </p:txBody>
      </p:sp>
      <p:sp>
        <p:nvSpPr>
          <p:cNvPr id="56" name="Text 42"/>
          <p:cNvSpPr/>
          <p:nvPr/>
        </p:nvSpPr>
        <p:spPr>
          <a:xfrm>
            <a:off x="5513832" y="59801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다지역 GIS 시스템</a:t>
            </a:r>
            <a:endParaRPr lang="en-US" sz="750" dirty="0"/>
          </a:p>
        </p:txBody>
      </p:sp>
      <p:sp>
        <p:nvSpPr>
          <p:cNvPr id="57" name="Text 43"/>
          <p:cNvSpPr/>
          <p:nvPr/>
        </p:nvSpPr>
        <p:spPr>
          <a:xfrm>
            <a:off x="685800" y="6446520"/>
            <a:ext cx="3849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GEOSTORY AI</a:t>
            </a:r>
            <a:r>
              <a:rPr lang="ko-KR" altLang="en-US" sz="11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기술연구본부 </a:t>
            </a:r>
            <a:r>
              <a:rPr lang="en-US" altLang="ko-KR" sz="11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r>
              <a:rPr lang="ko-KR" altLang="en-US" sz="11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기획팀 학생연구원 홍기혁</a:t>
            </a:r>
            <a:endParaRPr lang="en-US" sz="1100" dirty="0"/>
          </a:p>
        </p:txBody>
      </p:sp>
      <p:sp>
        <p:nvSpPr>
          <p:cNvPr id="58" name="Text 44"/>
          <p:cNvSpPr/>
          <p:nvPr/>
        </p:nvSpPr>
        <p:spPr>
          <a:xfrm>
            <a:off x="9418320" y="6446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C6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2026. 07. 28</a:t>
            </a:r>
            <a:endParaRPr lang="en-US" sz="1000" dirty="0"/>
          </a:p>
        </p:txBody>
      </p:sp>
      <p:sp>
        <p:nvSpPr>
          <p:cNvPr id="59" name="Text 45"/>
          <p:cNvSpPr/>
          <p:nvPr/>
        </p:nvSpPr>
        <p:spPr>
          <a:xfrm>
            <a:off x="11622024" y="6510528"/>
            <a:ext cx="365760" cy="237744"/>
          </a:xfrm>
          <a:prstGeom prst="rect">
            <a:avLst/>
          </a:prstGeom>
          <a:solidFill>
            <a:srgbClr val="EAF2F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03320" cy="68580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7FB8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11887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  차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6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GeoTrafficView-3D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FC6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기술 발표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3291840"/>
            <a:ext cx="420624" cy="420624"/>
          </a:xfrm>
          <a:prstGeom prst="ellipse">
            <a:avLst/>
          </a:prstGeom>
          <a:solidFill>
            <a:srgbClr val="123B6D"/>
          </a:solidFill>
          <a:ln w="635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90" y="3401202"/>
            <a:ext cx="201900" cy="201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329184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8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CCTV → 3D → DB → LLM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66928" y="4005072"/>
            <a:ext cx="420624" cy="420624"/>
          </a:xfrm>
          <a:prstGeom prst="ellipse">
            <a:avLst/>
          </a:prstGeom>
          <a:solidFill>
            <a:srgbClr val="123B6D"/>
          </a:solidFill>
          <a:ln w="635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90" y="4114434"/>
            <a:ext cx="201900" cy="2019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400507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8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정밀도로지도 cm급 결합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66928" y="4718304"/>
            <a:ext cx="420624" cy="420624"/>
          </a:xfrm>
          <a:prstGeom prst="ellipse">
            <a:avLst/>
          </a:prstGeom>
          <a:solidFill>
            <a:srgbClr val="123B6D"/>
          </a:solidFill>
          <a:ln w="635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90" y="4827666"/>
            <a:ext cx="201900" cy="2019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471830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8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위성지도 위 3D 이동체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566928" y="5431536"/>
            <a:ext cx="420624" cy="420624"/>
          </a:xfrm>
          <a:prstGeom prst="ellipse">
            <a:avLst/>
          </a:prstGeom>
          <a:solidFill>
            <a:srgbClr val="123B6D"/>
          </a:solidFill>
          <a:ln w="635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90" y="5540898"/>
            <a:ext cx="201900" cy="2019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3000" y="543153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8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기반 캘리브레이션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4160520" y="658368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EAF2FA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3"/>
          <p:cNvSpPr/>
          <p:nvPr/>
        </p:nvSpPr>
        <p:spPr>
          <a:xfrm>
            <a:off x="4160520" y="658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Ⅰ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4846320" y="640080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4846320" y="9601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산출물 — 무엇을 만들었는가  ·  주요 기능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4846320" y="1371600"/>
            <a:ext cx="6766560" cy="0"/>
          </a:xfrm>
          <a:prstGeom prst="line">
            <a:avLst/>
          </a:prstGeom>
          <a:noFill/>
          <a:ln w="9525">
            <a:solidFill>
              <a:srgbClr val="E1E8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7"/>
          <p:cNvSpPr/>
          <p:nvPr/>
        </p:nvSpPr>
        <p:spPr>
          <a:xfrm>
            <a:off x="4160520" y="1627632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EAF2FA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8"/>
          <p:cNvSpPr/>
          <p:nvPr/>
        </p:nvSpPr>
        <p:spPr>
          <a:xfrm>
            <a:off x="4160520" y="16276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4846320" y="1609344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</a:t>
            </a: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b="1" dirty="0" err="1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워크플로우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4846320" y="192938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6단계 파이프라인  ·  데이터 수집 · DB 저장 · LLM 호출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4846320" y="2340864"/>
            <a:ext cx="6766560" cy="0"/>
          </a:xfrm>
          <a:prstGeom prst="line">
            <a:avLst/>
          </a:prstGeom>
          <a:noFill/>
          <a:ln w="9525">
            <a:solidFill>
              <a:srgbClr val="E1E8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4160520" y="2596896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EAF2FA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3"/>
          <p:cNvSpPr/>
          <p:nvPr/>
        </p:nvSpPr>
        <p:spPr>
          <a:xfrm>
            <a:off x="4160520" y="25968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</a:t>
            </a:r>
            <a:endParaRPr lang="en-US" sz="1700" dirty="0"/>
          </a:p>
        </p:txBody>
      </p:sp>
      <p:sp>
        <p:nvSpPr>
          <p:cNvPr id="30" name="Text 24"/>
          <p:cNvSpPr/>
          <p:nvPr/>
        </p:nvSpPr>
        <p:spPr>
          <a:xfrm>
            <a:off x="4846320" y="2578608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cm급</a:t>
            </a: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b="1" dirty="0" err="1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</a:t>
            </a: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b="1" dirty="0" err="1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트윈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4846320" y="28986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 TOPIS × 정밀도로지도 결합 원리  ·  HD맵 스냅 구현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4846320" y="3310128"/>
            <a:ext cx="6766560" cy="0"/>
          </a:xfrm>
          <a:prstGeom prst="line">
            <a:avLst/>
          </a:prstGeom>
          <a:noFill/>
          <a:ln w="9525">
            <a:solidFill>
              <a:srgbClr val="E1E8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7"/>
          <p:cNvSpPr/>
          <p:nvPr/>
        </p:nvSpPr>
        <p:spPr>
          <a:xfrm>
            <a:off x="4160520" y="3566160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EAF2FA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8"/>
          <p:cNvSpPr/>
          <p:nvPr/>
        </p:nvSpPr>
        <p:spPr>
          <a:xfrm>
            <a:off x="4160520" y="35661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</a:t>
            </a:r>
            <a:endParaRPr lang="en-US" sz="1700" dirty="0"/>
          </a:p>
        </p:txBody>
      </p:sp>
      <p:sp>
        <p:nvSpPr>
          <p:cNvPr id="35" name="Text 29"/>
          <p:cNvSpPr/>
          <p:nvPr/>
        </p:nvSpPr>
        <p:spPr>
          <a:xfrm>
            <a:off x="4846320" y="3547872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MapLibre 3D 표출</a:t>
            </a:r>
            <a:endParaRPr lang="en-US" sz="1600" dirty="0"/>
          </a:p>
        </p:txBody>
      </p:sp>
      <p:sp>
        <p:nvSpPr>
          <p:cNvPr id="36" name="Text 30"/>
          <p:cNvSpPr/>
          <p:nvPr/>
        </p:nvSpPr>
        <p:spPr>
          <a:xfrm>
            <a:off x="4846320" y="38679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고해상 위성지도 위 이동체 구현  ·  CCTV 마커 오차 실측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4846320" y="4279392"/>
            <a:ext cx="6766560" cy="0"/>
          </a:xfrm>
          <a:prstGeom prst="line">
            <a:avLst/>
          </a:prstGeom>
          <a:noFill/>
          <a:ln w="9525">
            <a:solidFill>
              <a:srgbClr val="E1E8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2"/>
          <p:cNvSpPr/>
          <p:nvPr/>
        </p:nvSpPr>
        <p:spPr>
          <a:xfrm>
            <a:off x="4160520" y="4535424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EAF2FA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3"/>
          <p:cNvSpPr/>
          <p:nvPr/>
        </p:nvSpPr>
        <p:spPr>
          <a:xfrm>
            <a:off x="4160520" y="45354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Ⅴ</a:t>
            </a:r>
            <a:endParaRPr lang="en-US" sz="1700" dirty="0"/>
          </a:p>
        </p:txBody>
      </p:sp>
      <p:sp>
        <p:nvSpPr>
          <p:cNvPr id="40" name="Text 34"/>
          <p:cNvSpPr/>
          <p:nvPr/>
        </p:nvSpPr>
        <p:spPr>
          <a:xfrm>
            <a:off x="4846320" y="4517136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객체 탐지 고도화</a:t>
            </a:r>
            <a:endParaRPr lang="en-US" sz="1600" dirty="0"/>
          </a:p>
        </p:txBody>
      </p:sp>
      <p:sp>
        <p:nvSpPr>
          <p:cNvPr id="41" name="Text 35"/>
          <p:cNvSpPr/>
          <p:nvPr/>
        </p:nvSpPr>
        <p:spPr>
          <a:xfrm>
            <a:off x="4846320" y="483717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구현에 맞춘 기법 개선  ·  BEV 추적 A/B 실험</a:t>
            </a:r>
            <a:endParaRPr lang="en-US" sz="1050" dirty="0"/>
          </a:p>
        </p:txBody>
      </p:sp>
      <p:sp>
        <p:nvSpPr>
          <p:cNvPr id="42" name="Shape 36"/>
          <p:cNvSpPr/>
          <p:nvPr/>
        </p:nvSpPr>
        <p:spPr>
          <a:xfrm>
            <a:off x="4846320" y="5248656"/>
            <a:ext cx="6766560" cy="0"/>
          </a:xfrm>
          <a:prstGeom prst="line">
            <a:avLst/>
          </a:prstGeom>
          <a:noFill/>
          <a:ln w="9525">
            <a:solidFill>
              <a:srgbClr val="E1E8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7"/>
          <p:cNvSpPr/>
          <p:nvPr/>
        </p:nvSpPr>
        <p:spPr>
          <a:xfrm>
            <a:off x="4160520" y="5504688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EAF2FA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8"/>
          <p:cNvSpPr/>
          <p:nvPr/>
        </p:nvSpPr>
        <p:spPr>
          <a:xfrm>
            <a:off x="4160520" y="5504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Ⅵ</a:t>
            </a:r>
            <a:endParaRPr lang="en-US" sz="1700" dirty="0"/>
          </a:p>
        </p:txBody>
      </p:sp>
      <p:sp>
        <p:nvSpPr>
          <p:cNvPr id="45" name="Text 39"/>
          <p:cNvSpPr/>
          <p:nvPr/>
        </p:nvSpPr>
        <p:spPr>
          <a:xfrm>
            <a:off x="4846320" y="5486400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캘리브레이션 · 평가</a:t>
            </a:r>
            <a:endParaRPr lang="en-US" sz="1600" dirty="0"/>
          </a:p>
        </p:txBody>
      </p:sp>
      <p:sp>
        <p:nvSpPr>
          <p:cNvPr id="46" name="Text 40"/>
          <p:cNvSpPr/>
          <p:nvPr/>
        </p:nvSpPr>
        <p:spPr>
          <a:xfrm>
            <a:off x="4846320" y="58064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GCP 자동 캘리브레이션  ·  GT 작업 가이드  ·  평가 체계와 결론</a:t>
            </a:r>
            <a:endParaRPr lang="en-US" sz="1050" dirty="0"/>
          </a:p>
        </p:txBody>
      </p:sp>
      <p:sp>
        <p:nvSpPr>
          <p:cNvPr id="47" name="Text 41"/>
          <p:cNvSpPr/>
          <p:nvPr/>
        </p:nvSpPr>
        <p:spPr>
          <a:xfrm>
            <a:off x="11622024" y="6510528"/>
            <a:ext cx="365760" cy="237744"/>
          </a:xfrm>
          <a:prstGeom prst="rect">
            <a:avLst/>
          </a:prstGeom>
          <a:solidFill>
            <a:srgbClr val="EAF2F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GeoTrafficView-3D v2  ·  Traffic Digital Twin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68580" cy="42062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21792" y="548640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Ⅰ-1.  최종 산출물 — 무엇을 만들었는가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0936" y="1005840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"공개 CCTV 한 대 → 지도 위에서 움직이는 3D 차량 → 질의 가능한 DB"를 잇는 End-to-End 파이프라인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41655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 w="63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41655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Ⅰ 개요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5099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65099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 워크플로우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8543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88543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 cm급 트윈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11987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11987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 3D 표출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35431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35431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Ⅴ 탐지 고도화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058875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58875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Ⅵ 캘리브레이션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622024" y="6510528"/>
            <a:ext cx="365760" cy="237744"/>
          </a:xfrm>
          <a:prstGeom prst="rect">
            <a:avLst/>
          </a:prstGeom>
          <a:solidFill>
            <a:srgbClr val="EAF2F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1298448"/>
            <a:ext cx="1828800" cy="2743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93776" y="129844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End-to-End 파이프라인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1700784"/>
            <a:ext cx="1755648" cy="1481328"/>
          </a:xfrm>
          <a:prstGeom prst="roundRect">
            <a:avLst>
              <a:gd name="adj" fmla="val 3704"/>
            </a:avLst>
          </a:prstGeom>
          <a:solidFill>
            <a:srgbClr val="F2F7FC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15568" y="1828800"/>
            <a:ext cx="438912" cy="438912"/>
          </a:xfrm>
          <a:prstGeom prst="ellipse">
            <a:avLst/>
          </a:prstGeom>
          <a:solidFill>
            <a:srgbClr val="EAF2FA"/>
          </a:solidFill>
          <a:ln w="635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685" y="1942917"/>
            <a:ext cx="210678" cy="21067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02920" y="2322576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CCTV 수집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12064" y="258775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ITS·TOPIS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HLS 스트림 캡처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2194560" y="2331720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340864" y="1700784"/>
            <a:ext cx="1755648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5"/>
          <p:cNvSpPr/>
          <p:nvPr/>
        </p:nvSpPr>
        <p:spPr>
          <a:xfrm>
            <a:off x="2999232" y="1828800"/>
            <a:ext cx="438912" cy="438912"/>
          </a:xfrm>
          <a:prstGeom prst="ellipse">
            <a:avLst/>
          </a:prstGeom>
          <a:solidFill>
            <a:srgbClr val="EAF2FA"/>
          </a:solidFill>
          <a:ln w="635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3349" y="1942917"/>
            <a:ext cx="210678" cy="21067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2386584" y="2322576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객체 탐지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2395728" y="258775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VisDrone+SAHI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ByteTrack/BEV 추적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4078224" y="2331720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4224528" y="1700784"/>
            <a:ext cx="1755648" cy="1481328"/>
          </a:xfrm>
          <a:prstGeom prst="roundRect">
            <a:avLst>
              <a:gd name="adj" fmla="val 3704"/>
            </a:avLst>
          </a:prstGeom>
          <a:solidFill>
            <a:srgbClr val="F2F7FC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0"/>
          <p:cNvSpPr/>
          <p:nvPr/>
        </p:nvSpPr>
        <p:spPr>
          <a:xfrm>
            <a:off x="4882896" y="1828800"/>
            <a:ext cx="438912" cy="438912"/>
          </a:xfrm>
          <a:prstGeom prst="ellipse">
            <a:avLst/>
          </a:prstGeom>
          <a:solidFill>
            <a:srgbClr val="EAF2FA"/>
          </a:solidFill>
          <a:ln w="635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7013" y="1942917"/>
            <a:ext cx="210678" cy="210678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4270248" y="2322576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기하 변환</a:t>
            </a:r>
            <a:endParaRPr lang="en-US" sz="1150" dirty="0"/>
          </a:p>
        </p:txBody>
      </p:sp>
      <p:sp>
        <p:nvSpPr>
          <p:cNvPr id="37" name="Text 32"/>
          <p:cNvSpPr/>
          <p:nvPr/>
        </p:nvSpPr>
        <p:spPr>
          <a:xfrm>
            <a:off x="4279392" y="258775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G-Projection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GCP </a:t>
            </a:r>
            <a:r>
              <a:rPr lang="en-US" sz="850" dirty="0" err="1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캘리브</a:t>
            </a: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차선 정렬</a:t>
            </a:r>
            <a:endParaRPr lang="en-US" sz="850" dirty="0"/>
          </a:p>
        </p:txBody>
      </p:sp>
      <p:sp>
        <p:nvSpPr>
          <p:cNvPr id="38" name="Text 33"/>
          <p:cNvSpPr/>
          <p:nvPr/>
        </p:nvSpPr>
        <p:spPr>
          <a:xfrm>
            <a:off x="5961888" y="2331720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6108192" y="1700784"/>
            <a:ext cx="1755648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5"/>
          <p:cNvSpPr/>
          <p:nvPr/>
        </p:nvSpPr>
        <p:spPr>
          <a:xfrm>
            <a:off x="6766560" y="1828800"/>
            <a:ext cx="438912" cy="438912"/>
          </a:xfrm>
          <a:prstGeom prst="ellipse">
            <a:avLst/>
          </a:prstGeom>
          <a:solidFill>
            <a:srgbClr val="EAF2FA"/>
          </a:solidFill>
          <a:ln w="635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0677" y="1942917"/>
            <a:ext cx="210678" cy="210678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6153912" y="2322576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3D 표출</a:t>
            </a:r>
            <a:endParaRPr lang="en-US" sz="1150" dirty="0"/>
          </a:p>
        </p:txBody>
      </p:sp>
      <p:sp>
        <p:nvSpPr>
          <p:cNvPr id="43" name="Text 37"/>
          <p:cNvSpPr/>
          <p:nvPr/>
        </p:nvSpPr>
        <p:spPr>
          <a:xfrm>
            <a:off x="6163056" y="258775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MapLibre 위성맵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이중 패널 동기</a:t>
            </a:r>
            <a:endParaRPr lang="en-US" sz="850" dirty="0"/>
          </a:p>
        </p:txBody>
      </p:sp>
      <p:sp>
        <p:nvSpPr>
          <p:cNvPr id="44" name="Text 38"/>
          <p:cNvSpPr/>
          <p:nvPr/>
        </p:nvSpPr>
        <p:spPr>
          <a:xfrm>
            <a:off x="7845552" y="2331720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900" dirty="0"/>
          </a:p>
        </p:txBody>
      </p:sp>
      <p:sp>
        <p:nvSpPr>
          <p:cNvPr id="45" name="Shape 39"/>
          <p:cNvSpPr/>
          <p:nvPr/>
        </p:nvSpPr>
        <p:spPr>
          <a:xfrm>
            <a:off x="7991856" y="1700784"/>
            <a:ext cx="1755648" cy="1481328"/>
          </a:xfrm>
          <a:prstGeom prst="roundRect">
            <a:avLst>
              <a:gd name="adj" fmla="val 3704"/>
            </a:avLst>
          </a:prstGeom>
          <a:solidFill>
            <a:srgbClr val="F2F7FC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0"/>
          <p:cNvSpPr/>
          <p:nvPr/>
        </p:nvSpPr>
        <p:spPr>
          <a:xfrm>
            <a:off x="8650224" y="1828800"/>
            <a:ext cx="438912" cy="438912"/>
          </a:xfrm>
          <a:prstGeom prst="ellipse">
            <a:avLst/>
          </a:prstGeom>
          <a:solidFill>
            <a:srgbClr val="EAF2FA"/>
          </a:solidFill>
          <a:ln w="635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4341" y="1942917"/>
            <a:ext cx="210678" cy="210678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8037576" y="2322576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DB 적재</a:t>
            </a:r>
            <a:endParaRPr lang="en-US" sz="1150" dirty="0"/>
          </a:p>
        </p:txBody>
      </p:sp>
      <p:sp>
        <p:nvSpPr>
          <p:cNvPr id="49" name="Text 42"/>
          <p:cNvSpPr/>
          <p:nvPr/>
        </p:nvSpPr>
        <p:spPr>
          <a:xfrm>
            <a:off x="8046720" y="258775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PostGIS / SQLite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geom + geom_utm</a:t>
            </a:r>
            <a:endParaRPr lang="en-US" sz="850" dirty="0"/>
          </a:p>
        </p:txBody>
      </p:sp>
      <p:sp>
        <p:nvSpPr>
          <p:cNvPr id="50" name="Text 43"/>
          <p:cNvSpPr/>
          <p:nvPr/>
        </p:nvSpPr>
        <p:spPr>
          <a:xfrm>
            <a:off x="9729216" y="2331720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900" dirty="0"/>
          </a:p>
        </p:txBody>
      </p:sp>
      <p:sp>
        <p:nvSpPr>
          <p:cNvPr id="51" name="Shape 44"/>
          <p:cNvSpPr/>
          <p:nvPr/>
        </p:nvSpPr>
        <p:spPr>
          <a:xfrm>
            <a:off x="9875520" y="1700784"/>
            <a:ext cx="1755648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45"/>
          <p:cNvSpPr/>
          <p:nvPr/>
        </p:nvSpPr>
        <p:spPr>
          <a:xfrm>
            <a:off x="10533888" y="1828800"/>
            <a:ext cx="438912" cy="438912"/>
          </a:xfrm>
          <a:prstGeom prst="ellipse">
            <a:avLst/>
          </a:prstGeom>
          <a:solidFill>
            <a:srgbClr val="EAF2FA"/>
          </a:solidFill>
          <a:ln w="635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48005" y="1942917"/>
            <a:ext cx="210678" cy="210678"/>
          </a:xfrm>
          <a:prstGeom prst="rect">
            <a:avLst/>
          </a:prstGeom>
        </p:spPr>
      </p:pic>
      <p:sp>
        <p:nvSpPr>
          <p:cNvPr id="54" name="Text 46"/>
          <p:cNvSpPr/>
          <p:nvPr/>
        </p:nvSpPr>
        <p:spPr>
          <a:xfrm>
            <a:off x="9921240" y="2322576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LLM 질의</a:t>
            </a:r>
            <a:endParaRPr lang="en-US" sz="1150" dirty="0"/>
          </a:p>
        </p:txBody>
      </p:sp>
      <p:sp>
        <p:nvSpPr>
          <p:cNvPr id="55" name="Text 47"/>
          <p:cNvSpPr/>
          <p:nvPr/>
        </p:nvSpPr>
        <p:spPr>
          <a:xfrm>
            <a:off x="9930384" y="258775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 Qwen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NL2SQL 한국어 답변</a:t>
            </a:r>
            <a:endParaRPr lang="en-US" sz="850" dirty="0"/>
          </a:p>
        </p:txBody>
      </p:sp>
      <p:sp>
        <p:nvSpPr>
          <p:cNvPr id="56" name="Shape 48"/>
          <p:cNvSpPr/>
          <p:nvPr/>
        </p:nvSpPr>
        <p:spPr>
          <a:xfrm>
            <a:off x="457200" y="3401568"/>
            <a:ext cx="1828800" cy="2743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49"/>
          <p:cNvSpPr/>
          <p:nvPr/>
        </p:nvSpPr>
        <p:spPr>
          <a:xfrm>
            <a:off x="493776" y="340156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설계 결정 3가지</a:t>
            </a:r>
            <a:endParaRPr lang="en-US" sz="1050" dirty="0"/>
          </a:p>
        </p:txBody>
      </p:sp>
      <p:sp>
        <p:nvSpPr>
          <p:cNvPr id="58" name="Shape 50"/>
          <p:cNvSpPr/>
          <p:nvPr/>
        </p:nvSpPr>
        <p:spPr>
          <a:xfrm>
            <a:off x="457200" y="3730752"/>
            <a:ext cx="9418320" cy="2084832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1"/>
          <p:cNvSpPr/>
          <p:nvPr/>
        </p:nvSpPr>
        <p:spPr>
          <a:xfrm>
            <a:off x="658368" y="3895344"/>
            <a:ext cx="90434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TrafficLab-3D(MIT) </a:t>
            </a:r>
            <a:r>
              <a:rPr lang="en-US" sz="1050" dirty="0" err="1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</a:t>
            </a:r>
            <a:r>
              <a:rPr lang="en-US" sz="1050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이식</a:t>
            </a:r>
            <a:r>
              <a:rPr lang="ko-KR" altLang="en-US" sz="1050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</a:t>
            </a:r>
            <a:r>
              <a:rPr lang="en-US" sz="1050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world 블록 확장 — 위성 픽셀 좌표계를 실세계 UTM52N으로 교체, </a:t>
            </a:r>
            <a:r>
              <a:rPr lang="en-US" sz="1050" dirty="0" err="1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</a:t>
            </a:r>
            <a:r>
              <a:rPr lang="en-US" sz="1050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</a:t>
            </a:r>
            <a:r>
              <a:rPr lang="en-US" sz="1050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데모 → 다지역 GIS 시스템화</a:t>
            </a:r>
            <a:endParaRPr lang="en-US" sz="1050" dirty="0"/>
          </a:p>
          <a:p>
            <a:pPr marL="101600" indent="-101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Cesium·점군 제거, MapLibre 위성 타일맵 채택 — v1 대비 239MB 경량화, 도시 확장 부담 없음</a:t>
            </a:r>
            <a:endParaRPr lang="en-US" sz="1050" dirty="0"/>
          </a:p>
          <a:p>
            <a:pPr marL="101600" indent="-101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주장을 측정으로 검증 — 캘리브 타당성·추적 파편화·A/B 실험 도구를 함께 구축</a:t>
            </a:r>
            <a:endParaRPr lang="en-US" sz="1050" dirty="0"/>
          </a:p>
        </p:txBody>
      </p:sp>
      <p:sp>
        <p:nvSpPr>
          <p:cNvPr id="74" name="Shape 66"/>
          <p:cNvSpPr/>
          <p:nvPr/>
        </p:nvSpPr>
        <p:spPr>
          <a:xfrm>
            <a:off x="0" y="6382512"/>
            <a:ext cx="12188952" cy="475488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Text 67"/>
          <p:cNvSpPr/>
          <p:nvPr/>
        </p:nvSpPr>
        <p:spPr>
          <a:xfrm>
            <a:off x="548640" y="6382512"/>
            <a:ext cx="11091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데이터만으로  CCTV 영상 → 실세계 좌표 3D → 공간 DB · LLM 질의까지  End-to-End 구축</a:t>
            </a:r>
            <a:endParaRPr lang="en-US" sz="1250" dirty="0"/>
          </a:p>
        </p:txBody>
      </p:sp>
      <p:sp>
        <p:nvSpPr>
          <p:cNvPr id="76" name="Shape 68"/>
          <p:cNvSpPr/>
          <p:nvPr/>
        </p:nvSpPr>
        <p:spPr>
          <a:xfrm>
            <a:off x="11622024" y="6510528"/>
            <a:ext cx="365760" cy="237744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Text 69"/>
          <p:cNvSpPr/>
          <p:nvPr/>
        </p:nvSpPr>
        <p:spPr>
          <a:xfrm>
            <a:off x="11622024" y="651052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GeoTrafficView-3D v2  ·  Traffic Digital Twin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68580" cy="42062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21792" y="548640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Ⅰ-2.  주요 기능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0936" y="1005840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→ 인식·기하 → 캘리브레이션 → 표출·저장·질의, 4개 기능군 26개 도구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41655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 w="63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41655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Ⅰ 개요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5099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65099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 워크플로우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8543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88543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 cm급 트윈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11987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11987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 3D 표출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35431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35431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Ⅴ 탐지 고도화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058875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58875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Ⅵ 캘리브레이션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622024" y="6510528"/>
            <a:ext cx="365760" cy="237744"/>
          </a:xfrm>
          <a:prstGeom prst="rect">
            <a:avLst/>
          </a:prstGeom>
          <a:solidFill>
            <a:srgbClr val="EAF2F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1371600"/>
            <a:ext cx="5568696" cy="2249424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21792" y="1517904"/>
            <a:ext cx="457200" cy="457200"/>
          </a:xfrm>
          <a:prstGeom prst="ellipse">
            <a:avLst/>
          </a:prstGeom>
          <a:solidFill>
            <a:srgbClr val="EAF2FA"/>
          </a:solidFill>
          <a:ln w="635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1636776"/>
            <a:ext cx="219456" cy="21945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207008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수집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676656" y="2084832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ITS OpenAPI(전국 고속·국도, 무료 키) · 서울 TOPIS(키 불필요, 510대) · UTIC(키+IP)</a:t>
            </a:r>
            <a:endParaRPr lang="en-US" sz="900" dirty="0"/>
          </a:p>
          <a:p>
            <a:pPr marL="101600" indent="-1016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경찰청 CCTV ↔ ITS 스트림 공간매칭 · 스냅샷/클립 캡처</a:t>
            </a:r>
            <a:endParaRPr lang="en-US" sz="900" dirty="0"/>
          </a:p>
          <a:p>
            <a:pPr marL="101600" indent="-1016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add_location.py 원스톱(캡처→캘리브→추론→웹맵→DB) · run_city.py 배치</a:t>
            </a:r>
            <a:endParaRPr lang="en-US" sz="900" dirty="0"/>
          </a:p>
          <a:p>
            <a:pPr marL="101600" indent="-1016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refresh_markers.py — replay 보존 + 중복 dedup 마커 갱신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163056" y="1371600"/>
            <a:ext cx="5568696" cy="2249424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2"/>
          <p:cNvSpPr/>
          <p:nvPr/>
        </p:nvSpPr>
        <p:spPr>
          <a:xfrm>
            <a:off x="6327648" y="1517904"/>
            <a:ext cx="457200" cy="457200"/>
          </a:xfrm>
          <a:prstGeom prst="ellipse">
            <a:avLst/>
          </a:prstGeom>
          <a:solidFill>
            <a:srgbClr val="EAF2FA"/>
          </a:solidFill>
          <a:ln w="635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636776"/>
            <a:ext cx="219456" cy="219456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912864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인식 · 기하</a:t>
            </a:r>
            <a:endParaRPr lang="en-US" sz="1450" dirty="0"/>
          </a:p>
        </p:txBody>
      </p:sp>
      <p:sp>
        <p:nvSpPr>
          <p:cNvPr id="28" name="Text 24"/>
          <p:cNvSpPr/>
          <p:nvPr/>
        </p:nvSpPr>
        <p:spPr>
          <a:xfrm>
            <a:off x="6382512" y="2084832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VisDrone YOLOv8 + SAHI 슬라이싱 탐지 · ByteTrack/BEV 추적</a:t>
            </a:r>
            <a:endParaRPr lang="en-US" sz="900" dirty="0"/>
          </a:p>
          <a:p>
            <a:pPr marL="101600" indent="-1016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G-Projection: 왜곡보정→호모그래피→시차→3D 리프팅</a:t>
            </a:r>
            <a:endParaRPr lang="en-US" sz="900" dirty="0"/>
          </a:p>
          <a:p>
            <a:pPr marL="101600" indent="-1016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TrackSmoother 속도·방향(적응형 EMA) · lane_snap 차선 정렬</a:t>
            </a:r>
            <a:endParaRPr lang="en-US" sz="900" dirty="0"/>
          </a:p>
          <a:p>
            <a:pPr marL="101600" indent="-1016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reproject.py — 캘리브 변경 시 YOLO 재실행 없이 재투영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457200" y="3767328"/>
            <a:ext cx="5568696" cy="2249424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6"/>
          <p:cNvSpPr/>
          <p:nvPr/>
        </p:nvSpPr>
        <p:spPr>
          <a:xfrm>
            <a:off x="621792" y="3913632"/>
            <a:ext cx="457200" cy="457200"/>
          </a:xfrm>
          <a:prstGeom prst="ellipse">
            <a:avLst/>
          </a:prstGeom>
          <a:solidFill>
            <a:srgbClr val="EAF2FA"/>
          </a:solidFill>
          <a:ln w="635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4032504"/>
            <a:ext cx="219456" cy="219456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1207008" y="39502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캘리브레이션</a:t>
            </a:r>
            <a:endParaRPr lang="en-US" sz="1450" dirty="0"/>
          </a:p>
        </p:txBody>
      </p:sp>
      <p:sp>
        <p:nvSpPr>
          <p:cNvPr id="33" name="Text 28"/>
          <p:cNvSpPr/>
          <p:nvPr/>
        </p:nvSpPr>
        <p:spPr>
          <a:xfrm>
            <a:off x="676656" y="448056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수동 GCP(calibrate.html) · 자동 0클릭(VP+IPM+OSM) · 하이브리드(1~3점)</a:t>
            </a:r>
            <a:endParaRPr lang="en-US" sz="900" dirty="0"/>
          </a:p>
          <a:p>
            <a:pPr marL="101600" indent="-1016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ROI 도로영역 필터(실측 19% 폐기) · 차선 방향 heading 프라이어</a:t>
            </a:r>
            <a:endParaRPr lang="en-US" sz="900" dirty="0"/>
          </a:p>
          <a:p>
            <a:pPr marL="101600" indent="-1016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HD맵 스냅 — 정밀도로지도 정점에 cm급 스냅</a:t>
            </a:r>
            <a:endParaRPr lang="en-US" sz="900" dirty="0"/>
          </a:p>
          <a:p>
            <a:pPr marL="101600" indent="-1016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check_calibration · calib_guide — 품질 진단 + 실시간 가이드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6163056" y="3767328"/>
            <a:ext cx="5568696" cy="2249424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0"/>
          <p:cNvSpPr/>
          <p:nvPr/>
        </p:nvSpPr>
        <p:spPr>
          <a:xfrm>
            <a:off x="6327648" y="3913632"/>
            <a:ext cx="457200" cy="457200"/>
          </a:xfrm>
          <a:prstGeom prst="ellipse">
            <a:avLst/>
          </a:prstGeom>
          <a:solidFill>
            <a:srgbClr val="EAF2FA"/>
          </a:solidFill>
          <a:ln w="635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4032504"/>
            <a:ext cx="219456" cy="219456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6912864" y="39502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표출 · 저장 · 질의</a:t>
            </a:r>
            <a:endParaRPr lang="en-US" sz="1450" dirty="0"/>
          </a:p>
        </p:txBody>
      </p:sp>
      <p:sp>
        <p:nvSpPr>
          <p:cNvPr id="38" name="Text 32"/>
          <p:cNvSpPr/>
          <p:nvPr/>
        </p:nvSpPr>
        <p:spPr>
          <a:xfrm>
            <a:off x="6382512" y="448056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Esri/Sentinel-2 위성 basemap 토글 · CCTV 마커 590개</a:t>
            </a:r>
            <a:endParaRPr lang="en-US" sz="900" dirty="0"/>
          </a:p>
          <a:p>
            <a:pPr marL="101600" indent="-1016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이중 패널 — 영상 3D박스 ↔ 지도 fill-extrusion 프레임 동기</a:t>
            </a:r>
            <a:endParaRPr lang="en-US" sz="900" dirty="0"/>
          </a:p>
          <a:p>
            <a:pPr marL="101600" indent="-1016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PostGIS + SQLite 동일 스키마 · 카메라 단위 idempotent 적재</a:t>
            </a:r>
            <a:endParaRPr lang="en-US" sz="900" dirty="0"/>
          </a:p>
          <a:p>
            <a:pPr marL="101600" indent="-1016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 NL2SQL 채팅 + "송도IC로 이동" 지도 제어 · GT 평가 도구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0" y="6382512"/>
            <a:ext cx="12188952" cy="475488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4"/>
          <p:cNvSpPr/>
          <p:nvPr/>
        </p:nvSpPr>
        <p:spPr>
          <a:xfrm>
            <a:off x="548640" y="6382512"/>
            <a:ext cx="11091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26개 CLI 도구 + 웹앱 3종(뷰어 · 캘리브레이터 · GT 라벨러)이 하나의 파이프라인으로 연결</a:t>
            </a:r>
            <a:endParaRPr lang="en-US" sz="1250" dirty="0"/>
          </a:p>
        </p:txBody>
      </p:sp>
      <p:sp>
        <p:nvSpPr>
          <p:cNvPr id="41" name="Shape 35"/>
          <p:cNvSpPr/>
          <p:nvPr/>
        </p:nvSpPr>
        <p:spPr>
          <a:xfrm>
            <a:off x="11622024" y="6510528"/>
            <a:ext cx="365760" cy="237744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6"/>
          <p:cNvSpPr/>
          <p:nvPr/>
        </p:nvSpPr>
        <p:spPr>
          <a:xfrm>
            <a:off x="11622024" y="651052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GeoTrafficView-3D v2  ·  Traffic Digital Twin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68580" cy="42062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21792" y="548640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Ⅱ-1.  전체 워크플로우 — 6단계 파이프라인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0936" y="1005840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CCTV 수집 → 객체 탐지 → 기하 변환 → GIS 3D 표출 → DB 저장 → LLM 호출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41655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41655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Ⅰ 개요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5099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 w="63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65099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 워크플로우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8543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88543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 cm급 트윈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11987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11987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 3D 표출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35431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35431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Ⅴ 탐지 고도화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058875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58875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Ⅵ 캘리브레이션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622024" y="6510528"/>
            <a:ext cx="365760" cy="237744"/>
          </a:xfrm>
          <a:prstGeom prst="rect">
            <a:avLst/>
          </a:prstGeom>
          <a:solidFill>
            <a:srgbClr val="EAF2F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1353312"/>
            <a:ext cx="1700784" cy="786384"/>
          </a:xfrm>
          <a:prstGeom prst="roundRect">
            <a:avLst>
              <a:gd name="adj" fmla="val 6977"/>
            </a:avLst>
          </a:prstGeom>
          <a:solidFill>
            <a:srgbClr val="F2F7FC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499616"/>
            <a:ext cx="274320" cy="2743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14400" y="1444752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CCTV 수집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914400" y="1719072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HLS → 클립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2162556" y="1645920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340864" y="1353312"/>
            <a:ext cx="1700784" cy="786384"/>
          </a:xfrm>
          <a:prstGeom prst="roundRect">
            <a:avLst>
              <a:gd name="adj" fmla="val 6977"/>
            </a:avLst>
          </a:prstGeom>
          <a:solidFill>
            <a:srgbClr val="F2F7FC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0" y="1499616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2798064" y="1444752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객체 탐지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2798064" y="1719072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bbox + track_id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4046220" y="1645920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4224528" y="1353312"/>
            <a:ext cx="1700784" cy="786384"/>
          </a:xfrm>
          <a:prstGeom prst="roundRect">
            <a:avLst>
              <a:gd name="adj" fmla="val 6977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2544" y="1499616"/>
            <a:ext cx="274320" cy="27432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4681728" y="1444752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기하 변환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4681728" y="1719072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FC6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픽셀 → UTM52N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5929884" y="1645920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6108192" y="1353312"/>
            <a:ext cx="1700784" cy="786384"/>
          </a:xfrm>
          <a:prstGeom prst="roundRect">
            <a:avLst>
              <a:gd name="adj" fmla="val 6977"/>
            </a:avLst>
          </a:prstGeom>
          <a:solidFill>
            <a:srgbClr val="F2F7FC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6208" y="1499616"/>
            <a:ext cx="274320" cy="27432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565392" y="1444752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표출</a:t>
            </a:r>
            <a:endParaRPr lang="en-US" sz="1050" dirty="0"/>
          </a:p>
        </p:txBody>
      </p:sp>
      <p:sp>
        <p:nvSpPr>
          <p:cNvPr id="37" name="Text 31"/>
          <p:cNvSpPr/>
          <p:nvPr/>
        </p:nvSpPr>
        <p:spPr>
          <a:xfrm>
            <a:off x="6565392" y="1719072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fill-extrusion</a:t>
            </a:r>
            <a:endParaRPr lang="en-US" sz="800" dirty="0"/>
          </a:p>
        </p:txBody>
      </p:sp>
      <p:sp>
        <p:nvSpPr>
          <p:cNvPr id="38" name="Text 32"/>
          <p:cNvSpPr/>
          <p:nvPr/>
        </p:nvSpPr>
        <p:spPr>
          <a:xfrm>
            <a:off x="7813548" y="1645920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7991856" y="1353312"/>
            <a:ext cx="1700784" cy="786384"/>
          </a:xfrm>
          <a:prstGeom prst="roundRect">
            <a:avLst>
              <a:gd name="adj" fmla="val 6977"/>
            </a:avLst>
          </a:prstGeom>
          <a:solidFill>
            <a:srgbClr val="F2F7FC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9872" y="1499616"/>
            <a:ext cx="274320" cy="27432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8449056" y="1444752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저장</a:t>
            </a:r>
            <a:endParaRPr lang="en-US" sz="1050" dirty="0"/>
          </a:p>
        </p:txBody>
      </p:sp>
      <p:sp>
        <p:nvSpPr>
          <p:cNvPr id="42" name="Text 35"/>
          <p:cNvSpPr/>
          <p:nvPr/>
        </p:nvSpPr>
        <p:spPr>
          <a:xfrm>
            <a:off x="8449056" y="1719072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detection 테이블</a:t>
            </a:r>
            <a:endParaRPr lang="en-US" sz="800" dirty="0"/>
          </a:p>
        </p:txBody>
      </p:sp>
      <p:sp>
        <p:nvSpPr>
          <p:cNvPr id="43" name="Text 36"/>
          <p:cNvSpPr/>
          <p:nvPr/>
        </p:nvSpPr>
        <p:spPr>
          <a:xfrm>
            <a:off x="9697212" y="1645920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900" dirty="0"/>
          </a:p>
        </p:txBody>
      </p:sp>
      <p:sp>
        <p:nvSpPr>
          <p:cNvPr id="44" name="Shape 37"/>
          <p:cNvSpPr/>
          <p:nvPr/>
        </p:nvSpPr>
        <p:spPr>
          <a:xfrm>
            <a:off x="9875520" y="1353312"/>
            <a:ext cx="1700784" cy="786384"/>
          </a:xfrm>
          <a:prstGeom prst="roundRect">
            <a:avLst>
              <a:gd name="adj" fmla="val 6977"/>
            </a:avLst>
          </a:prstGeom>
          <a:solidFill>
            <a:srgbClr val="F2F7FC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03536" y="1499616"/>
            <a:ext cx="274320" cy="27432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10332720" y="1444752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질의</a:t>
            </a:r>
            <a:endParaRPr lang="en-US" sz="1050" dirty="0"/>
          </a:p>
        </p:txBody>
      </p:sp>
      <p:sp>
        <p:nvSpPr>
          <p:cNvPr id="47" name="Text 39"/>
          <p:cNvSpPr/>
          <p:nvPr/>
        </p:nvSpPr>
        <p:spPr>
          <a:xfrm>
            <a:off x="10332720" y="1719072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 → 한국어</a:t>
            </a:r>
            <a:endParaRPr lang="en-US" sz="800" dirty="0"/>
          </a:p>
        </p:txBody>
      </p:sp>
      <p:sp>
        <p:nvSpPr>
          <p:cNvPr id="48" name="Shape 40"/>
          <p:cNvSpPr/>
          <p:nvPr/>
        </p:nvSpPr>
        <p:spPr>
          <a:xfrm>
            <a:off x="457200" y="2395728"/>
            <a:ext cx="2377440" cy="2743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1"/>
          <p:cNvSpPr/>
          <p:nvPr/>
        </p:nvSpPr>
        <p:spPr>
          <a:xfrm>
            <a:off x="493776" y="2395728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기하 변환 상세 (핵심)</a:t>
            </a:r>
            <a:endParaRPr lang="en-US" sz="1050" dirty="0"/>
          </a:p>
        </p:txBody>
      </p:sp>
      <p:sp>
        <p:nvSpPr>
          <p:cNvPr id="50" name="Shape 42"/>
          <p:cNvSpPr/>
          <p:nvPr/>
        </p:nvSpPr>
        <p:spPr>
          <a:xfrm>
            <a:off x="457200" y="2724912"/>
            <a:ext cx="6858000" cy="2999232"/>
          </a:xfrm>
          <a:prstGeom prst="roundRect">
            <a:avLst>
              <a:gd name="adj" fmla="val 1829"/>
            </a:avLst>
          </a:prstGeom>
          <a:solidFill>
            <a:srgbClr val="FFFFFF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3"/>
          <p:cNvSpPr/>
          <p:nvPr/>
        </p:nvSpPr>
        <p:spPr>
          <a:xfrm>
            <a:off x="658368" y="2871216"/>
            <a:ext cx="2377440" cy="457200"/>
          </a:xfrm>
          <a:prstGeom prst="roundRect">
            <a:avLst>
              <a:gd name="adj" fmla="val 10000"/>
            </a:avLst>
          </a:prstGeom>
          <a:solidFill>
            <a:srgbClr val="EAF2FA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4"/>
          <p:cNvSpPr/>
          <p:nvPr/>
        </p:nvSpPr>
        <p:spPr>
          <a:xfrm>
            <a:off x="713232" y="28712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CCTV 픽셀 (u, v)</a:t>
            </a:r>
            <a:endParaRPr lang="en-US" sz="950" dirty="0"/>
          </a:p>
        </p:txBody>
      </p:sp>
      <p:sp>
        <p:nvSpPr>
          <p:cNvPr id="53" name="Text 45"/>
          <p:cNvSpPr/>
          <p:nvPr/>
        </p:nvSpPr>
        <p:spPr>
          <a:xfrm>
            <a:off x="1737360" y="3300984"/>
            <a:ext cx="182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700" dirty="0"/>
          </a:p>
        </p:txBody>
      </p:sp>
      <p:sp>
        <p:nvSpPr>
          <p:cNvPr id="54" name="Text 46"/>
          <p:cNvSpPr/>
          <p:nvPr/>
        </p:nvSpPr>
        <p:spPr>
          <a:xfrm>
            <a:off x="3200400" y="287121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cv2.undistortPoints(K, D) — 렌즈 왜곡 보정</a:t>
            </a:r>
            <a:endParaRPr lang="en-US" sz="950" dirty="0"/>
          </a:p>
        </p:txBody>
      </p:sp>
      <p:sp>
        <p:nvSpPr>
          <p:cNvPr id="55" name="Shape 47"/>
          <p:cNvSpPr/>
          <p:nvPr/>
        </p:nvSpPr>
        <p:spPr>
          <a:xfrm>
            <a:off x="658368" y="3438144"/>
            <a:ext cx="2377440" cy="457200"/>
          </a:xfrm>
          <a:prstGeom prst="roundRect">
            <a:avLst>
              <a:gd name="adj" fmla="val 10000"/>
            </a:avLst>
          </a:prstGeom>
          <a:solidFill>
            <a:srgbClr val="EAF2FA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48"/>
          <p:cNvSpPr/>
          <p:nvPr/>
        </p:nvSpPr>
        <p:spPr>
          <a:xfrm>
            <a:off x="713232" y="34381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왜곡보정 픽셀</a:t>
            </a:r>
            <a:endParaRPr lang="en-US" sz="950" dirty="0"/>
          </a:p>
        </p:txBody>
      </p:sp>
      <p:sp>
        <p:nvSpPr>
          <p:cNvPr id="57" name="Text 49"/>
          <p:cNvSpPr/>
          <p:nvPr/>
        </p:nvSpPr>
        <p:spPr>
          <a:xfrm>
            <a:off x="1737360" y="3867912"/>
            <a:ext cx="182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700" dirty="0"/>
          </a:p>
        </p:txBody>
      </p:sp>
      <p:sp>
        <p:nvSpPr>
          <p:cNvPr id="58" name="Text 50"/>
          <p:cNvSpPr/>
          <p:nvPr/>
        </p:nvSpPr>
        <p:spPr>
          <a:xfrm>
            <a:off x="3200400" y="343814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cv2.perspectiveTransform(H) — GCP로 추정한 호모그래피</a:t>
            </a:r>
            <a:endParaRPr lang="en-US" sz="950" dirty="0"/>
          </a:p>
        </p:txBody>
      </p:sp>
      <p:sp>
        <p:nvSpPr>
          <p:cNvPr id="59" name="Shape 51"/>
          <p:cNvSpPr/>
          <p:nvPr/>
        </p:nvSpPr>
        <p:spPr>
          <a:xfrm>
            <a:off x="658368" y="4005072"/>
            <a:ext cx="2377440" cy="457200"/>
          </a:xfrm>
          <a:prstGeom prst="roundRect">
            <a:avLst>
              <a:gd name="adj" fmla="val 10000"/>
            </a:avLst>
          </a:prstGeom>
          <a:solidFill>
            <a:srgbClr val="EAF2FA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2"/>
          <p:cNvSpPr/>
          <p:nvPr/>
        </p:nvSpPr>
        <p:spPr>
          <a:xfrm>
            <a:off x="713232" y="40050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sat_coords (로컬 미터)</a:t>
            </a:r>
            <a:endParaRPr lang="en-US" sz="950" dirty="0"/>
          </a:p>
        </p:txBody>
      </p:sp>
      <p:sp>
        <p:nvSpPr>
          <p:cNvPr id="61" name="Text 53"/>
          <p:cNvSpPr/>
          <p:nvPr/>
        </p:nvSpPr>
        <p:spPr>
          <a:xfrm>
            <a:off x="1737360" y="4434840"/>
            <a:ext cx="182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700" dirty="0"/>
          </a:p>
        </p:txBody>
      </p:sp>
      <p:sp>
        <p:nvSpPr>
          <p:cNvPr id="62" name="Text 54"/>
          <p:cNvSpPr/>
          <p:nvPr/>
        </p:nvSpPr>
        <p:spPr>
          <a:xfrm>
            <a:off x="3200400" y="40050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시차 보정  real = C + (A−C)·(z_cam−h)/z_cam</a:t>
            </a:r>
            <a:endParaRPr lang="en-US" sz="950" dirty="0"/>
          </a:p>
        </p:txBody>
      </p:sp>
      <p:sp>
        <p:nvSpPr>
          <p:cNvPr id="63" name="Shape 55"/>
          <p:cNvSpPr/>
          <p:nvPr/>
        </p:nvSpPr>
        <p:spPr>
          <a:xfrm>
            <a:off x="658368" y="4572000"/>
            <a:ext cx="2377440" cy="457200"/>
          </a:xfrm>
          <a:prstGeom prst="roundRect">
            <a:avLst>
              <a:gd name="adj" fmla="val 10000"/>
            </a:avLst>
          </a:prstGeom>
          <a:solidFill>
            <a:srgbClr val="EAF2FA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56"/>
          <p:cNvSpPr/>
          <p:nvPr/>
        </p:nvSpPr>
        <p:spPr>
          <a:xfrm>
            <a:off x="713232" y="4572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지면 접촉점</a:t>
            </a:r>
            <a:endParaRPr lang="en-US" sz="950" dirty="0"/>
          </a:p>
        </p:txBody>
      </p:sp>
      <p:sp>
        <p:nvSpPr>
          <p:cNvPr id="65" name="Text 57"/>
          <p:cNvSpPr/>
          <p:nvPr/>
        </p:nvSpPr>
        <p:spPr>
          <a:xfrm>
            <a:off x="1737360" y="5001768"/>
            <a:ext cx="182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700" dirty="0"/>
          </a:p>
        </p:txBody>
      </p:sp>
      <p:sp>
        <p:nvSpPr>
          <p:cNvPr id="66" name="Text 58"/>
          <p:cNvSpPr/>
          <p:nvPr/>
        </p:nvSpPr>
        <p:spPr>
          <a:xfrm>
            <a:off x="3200400" y="4572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world.origin_easting / northing</a:t>
            </a:r>
            <a:endParaRPr lang="en-US" sz="950" dirty="0"/>
          </a:p>
        </p:txBody>
      </p:sp>
      <p:sp>
        <p:nvSpPr>
          <p:cNvPr id="67" name="Shape 59"/>
          <p:cNvSpPr/>
          <p:nvPr/>
        </p:nvSpPr>
        <p:spPr>
          <a:xfrm>
            <a:off x="658368" y="5138928"/>
            <a:ext cx="2377440" cy="457200"/>
          </a:xfrm>
          <a:prstGeom prst="roundRect">
            <a:avLst>
              <a:gd name="adj" fmla="val 10000"/>
            </a:avLst>
          </a:prstGeom>
          <a:solidFill>
            <a:srgbClr val="EAF2FA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0"/>
          <p:cNvSpPr/>
          <p:nvPr/>
        </p:nvSpPr>
        <p:spPr>
          <a:xfrm>
            <a:off x="713232" y="51389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UTM52N (EPSG:32652)</a:t>
            </a:r>
            <a:endParaRPr lang="en-US" sz="950" dirty="0"/>
          </a:p>
        </p:txBody>
      </p:sp>
      <p:sp>
        <p:nvSpPr>
          <p:cNvPr id="69" name="Text 61"/>
          <p:cNvSpPr/>
          <p:nvPr/>
        </p:nvSpPr>
        <p:spPr>
          <a:xfrm>
            <a:off x="1737360" y="5568696"/>
            <a:ext cx="182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700" dirty="0"/>
          </a:p>
        </p:txBody>
      </p:sp>
      <p:sp>
        <p:nvSpPr>
          <p:cNvPr id="70" name="Text 62"/>
          <p:cNvSpPr/>
          <p:nvPr/>
        </p:nvSpPr>
        <p:spPr>
          <a:xfrm>
            <a:off x="3200400" y="51389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proj4 → WGS84 → MapLibre 표출</a:t>
            </a:r>
            <a:endParaRPr lang="en-US" sz="950" dirty="0"/>
          </a:p>
        </p:txBody>
      </p:sp>
      <p:sp>
        <p:nvSpPr>
          <p:cNvPr id="71" name="Shape 63"/>
          <p:cNvSpPr/>
          <p:nvPr/>
        </p:nvSpPr>
        <p:spPr>
          <a:xfrm>
            <a:off x="7589520" y="2395728"/>
            <a:ext cx="2011680" cy="2743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Text 64"/>
          <p:cNvSpPr/>
          <p:nvPr/>
        </p:nvSpPr>
        <p:spPr>
          <a:xfrm>
            <a:off x="7626096" y="239572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박스 생성</a:t>
            </a:r>
            <a:endParaRPr lang="en-US" sz="1050" dirty="0"/>
          </a:p>
        </p:txBody>
      </p:sp>
      <p:sp>
        <p:nvSpPr>
          <p:cNvPr id="73" name="Shape 65"/>
          <p:cNvSpPr/>
          <p:nvPr/>
        </p:nvSpPr>
        <p:spPr>
          <a:xfrm>
            <a:off x="7589520" y="2724912"/>
            <a:ext cx="4142232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66"/>
          <p:cNvSpPr/>
          <p:nvPr/>
        </p:nvSpPr>
        <p:spPr>
          <a:xfrm>
            <a:off x="7772400" y="2852928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클래스별 치수(car 1.8×3.8×1.55m)로 지면 사각형을 heading 회전</a:t>
            </a:r>
            <a:endParaRPr lang="en-US" sz="950" dirty="0"/>
          </a:p>
          <a:p>
            <a:pPr marL="101600" indent="-1016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시차 factor z_cam/(z_cam−h)로 천장 4점 생성</a:t>
            </a:r>
            <a:endParaRPr lang="en-US" sz="950" dirty="0"/>
          </a:p>
          <a:p>
            <a:pPr marL="101600" indent="-1016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cv2.projectPoints 왜곡 재적용 → CCTV 픽셀 8점(bbox_3d)</a:t>
            </a:r>
            <a:endParaRPr lang="en-US" sz="950" dirty="0"/>
          </a:p>
        </p:txBody>
      </p:sp>
      <p:sp>
        <p:nvSpPr>
          <p:cNvPr id="75" name="Shape 67"/>
          <p:cNvSpPr/>
          <p:nvPr/>
        </p:nvSpPr>
        <p:spPr>
          <a:xfrm>
            <a:off x="7589520" y="4370832"/>
            <a:ext cx="2011680" cy="2743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Text 68"/>
          <p:cNvSpPr/>
          <p:nvPr/>
        </p:nvSpPr>
        <p:spPr>
          <a:xfrm>
            <a:off x="7626096" y="4370832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대비 확장 — world 블록</a:t>
            </a:r>
            <a:endParaRPr lang="en-US" sz="1050" dirty="0"/>
          </a:p>
        </p:txBody>
      </p:sp>
      <p:sp>
        <p:nvSpPr>
          <p:cNvPr id="77" name="Shape 69"/>
          <p:cNvSpPr/>
          <p:nvPr/>
        </p:nvSpPr>
        <p:spPr>
          <a:xfrm>
            <a:off x="7589520" y="4700016"/>
            <a:ext cx="4142232" cy="1024128"/>
          </a:xfrm>
          <a:prstGeom prst="roundRect">
            <a:avLst>
              <a:gd name="adj" fmla="val 5357"/>
            </a:avLst>
          </a:prstGeom>
          <a:solidFill>
            <a:srgbClr val="F2F7FC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0"/>
          <p:cNvSpPr/>
          <p:nvPr/>
        </p:nvSpPr>
        <p:spPr>
          <a:xfrm>
            <a:off x="7772400" y="479145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23B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"world": { epsg: 32652, origin_easting/northing,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23B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ground_ellipsoid_h }</a:t>
            </a:r>
            <a:endParaRPr lang="en-US" sz="900" dirty="0"/>
          </a:p>
        </p:txBody>
      </p:sp>
      <p:sp>
        <p:nvSpPr>
          <p:cNvPr id="79" name="Text 71"/>
          <p:cNvSpPr/>
          <p:nvPr/>
        </p:nvSpPr>
        <p:spPr>
          <a:xfrm>
            <a:off x="7772400" y="53035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한 블록으로 위성 PNG 픽셀 좌표계 → 전 지구 좌표계</a:t>
            </a:r>
            <a:endParaRPr lang="en-US" sz="950" dirty="0"/>
          </a:p>
        </p:txBody>
      </p:sp>
      <p:sp>
        <p:nvSpPr>
          <p:cNvPr id="80" name="Shape 72"/>
          <p:cNvSpPr/>
          <p:nvPr/>
        </p:nvSpPr>
        <p:spPr>
          <a:xfrm>
            <a:off x="0" y="6382512"/>
            <a:ext cx="12188952" cy="475488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3"/>
          <p:cNvSpPr/>
          <p:nvPr/>
        </p:nvSpPr>
        <p:spPr>
          <a:xfrm>
            <a:off x="548640" y="6382512"/>
            <a:ext cx="11091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캘리브레이션이 바뀌어도 reproject.py로 좌표만 재계산 — YOLO 재실행 불필요</a:t>
            </a:r>
            <a:endParaRPr lang="en-US" sz="1250" dirty="0"/>
          </a:p>
        </p:txBody>
      </p:sp>
      <p:sp>
        <p:nvSpPr>
          <p:cNvPr id="82" name="Shape 74"/>
          <p:cNvSpPr/>
          <p:nvPr/>
        </p:nvSpPr>
        <p:spPr>
          <a:xfrm>
            <a:off x="11622024" y="6510528"/>
            <a:ext cx="365760" cy="237744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75"/>
          <p:cNvSpPr/>
          <p:nvPr/>
        </p:nvSpPr>
        <p:spPr>
          <a:xfrm>
            <a:off x="11622024" y="651052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GeoTrafficView-3D v2  ·  Traffic Digital Twin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68580" cy="42062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21792" y="548640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Ⅱ-2.  데이터 수집 · DB 저장 · LLM 호출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0936" y="1005840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CCTV 3원 수집 — 공간 DB 이중 백엔드 — 읽기전용 NL2SQL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41655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41655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Ⅰ 개요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5099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 w="63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65099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 워크플로우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8543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88543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 cm급 트윈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11987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11987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 3D 표출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35431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35431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Ⅴ 탐지 고도화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058875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58875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Ⅵ 캘리브레이션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622024" y="6510528"/>
            <a:ext cx="365760" cy="237744"/>
          </a:xfrm>
          <a:prstGeom prst="rect">
            <a:avLst/>
          </a:prstGeom>
          <a:solidFill>
            <a:srgbClr val="EAF2F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1298448"/>
            <a:ext cx="2011680" cy="2743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93776" y="129844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CCTV 소스 (실측)</a:t>
            </a:r>
            <a:endParaRPr lang="en-US" sz="10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27632"/>
          <a:ext cx="5760720" cy="1243584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스트림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커버리지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ITS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 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HLS 직접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전국 고속·국도 (판교·인천 4대)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E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TOPIS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E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불필요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HLS 직접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 510대 (상암 1대)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UTIC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키+IP 등록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iframe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전국 도심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457200" y="3200400"/>
            <a:ext cx="5760720" cy="1170432"/>
          </a:xfrm>
          <a:prstGeom prst="roundRect">
            <a:avLst>
              <a:gd name="adj" fmla="val 4688"/>
            </a:avLst>
          </a:prstGeom>
          <a:solidFill>
            <a:srgbClr val="F2F7FC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621792" y="3310128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TOPIS 공개 엔드포인트 직접 발견: </a:t>
            </a:r>
            <a:r>
              <a:rPr 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selectCctvList.do(510대 목록) → selectCctvInfo.do(HLS URL)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cv2 재생 시 referer 헤더 필요 · 라이브 HLS stall 대응 read-fail 상한(재시도로 90프레임 확보)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제약: 도심 자율주행 거리 CCTV는 시 API 소관 — 상암 반경 5km 내 ITS 스트림 4개뿐(전부 고속도로)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57200" y="4553712"/>
            <a:ext cx="3017520" cy="2743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493776" y="4553712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공간 DB — 동일 스키마 2백엔드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57200" y="4882896"/>
            <a:ext cx="57607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621792" y="497433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23B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detection(ts, frame, cctv_id, track_id, class, conf, speed_kmh, heading_deg, geom 4326, geom_utm 32652)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21792" y="53949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PostGIS: GIST+시간 인덱스 · ST_DWithin 실측(50m 4,183 / 200m 6,756건)</a:t>
            </a:r>
            <a:endParaRPr lang="en-US" sz="900" dirty="0"/>
          </a:p>
          <a:p>
            <a:pPr marL="101600" indent="-1016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SQLite: 서버 없이 즉시 — 웹맵 replay 그대로 적재(화면=DB 일치) · 카메라 단위 idempotent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492240" y="1298448"/>
            <a:ext cx="2011680" cy="2743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6528816" y="129844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LLM 질의 (NL2SQL)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492240" y="1627632"/>
            <a:ext cx="5239512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6675120" y="1755648"/>
            <a:ext cx="1691640" cy="402336"/>
          </a:xfrm>
          <a:prstGeom prst="roundRect">
            <a:avLst>
              <a:gd name="adj" fmla="val 11364"/>
            </a:avLst>
          </a:prstGeom>
          <a:solidFill>
            <a:srgbClr val="EAF2FA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6729984" y="175564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질문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8503920" y="175564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"카메라별 차량 대수는?"  /  "송도IC로 이동"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6675120" y="2267712"/>
            <a:ext cx="1691640" cy="402336"/>
          </a:xfrm>
          <a:prstGeom prst="roundRect">
            <a:avLst>
              <a:gd name="adj" fmla="val 11364"/>
            </a:avLst>
          </a:prstGeom>
          <a:solidFill>
            <a:srgbClr val="EAF2FA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/>
          <p:nvPr/>
        </p:nvSpPr>
        <p:spPr>
          <a:xfrm>
            <a:off x="6729984" y="226771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명령 분기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8503920" y="226771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"~로 이동" → LLM 없이 즉시 flyTo + 재생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6675120" y="2779776"/>
            <a:ext cx="1691640" cy="402336"/>
          </a:xfrm>
          <a:prstGeom prst="roundRect">
            <a:avLst>
              <a:gd name="adj" fmla="val 11364"/>
            </a:avLst>
          </a:prstGeom>
          <a:solidFill>
            <a:srgbClr val="EAF2FA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6"/>
          <p:cNvSpPr/>
          <p:nvPr/>
        </p:nvSpPr>
        <p:spPr>
          <a:xfrm>
            <a:off x="6729984" y="2779776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1차: SQL 생성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8503920" y="277977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Qwen에 스키마 + few-shot → SELECT 문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6675120" y="3291840"/>
            <a:ext cx="1691640" cy="402336"/>
          </a:xfrm>
          <a:prstGeom prst="roundRect">
            <a:avLst>
              <a:gd name="adj" fmla="val 11364"/>
            </a:avLst>
          </a:prstGeom>
          <a:solidFill>
            <a:srgbClr val="1F3864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9"/>
          <p:cNvSpPr/>
          <p:nvPr/>
        </p:nvSpPr>
        <p:spPr>
          <a:xfrm>
            <a:off x="6729984" y="329184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게이트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8503920" y="329184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SELECT만 허용 · 세미콜론/DDL 차단 · 읽기전용 연결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6675120" y="3803904"/>
            <a:ext cx="1691640" cy="402336"/>
          </a:xfrm>
          <a:prstGeom prst="roundRect">
            <a:avLst>
              <a:gd name="adj" fmla="val 11364"/>
            </a:avLst>
          </a:prstGeom>
          <a:solidFill>
            <a:srgbClr val="EAF2FA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2"/>
          <p:cNvSpPr/>
          <p:nvPr/>
        </p:nvSpPr>
        <p:spPr>
          <a:xfrm>
            <a:off x="6729984" y="3803904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→ 2차: 요약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8503920" y="380390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PostGIS/SQLite 자동 선택 → 한국어 답변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492240" y="4553712"/>
            <a:ext cx="2011680" cy="2743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5"/>
          <p:cNvSpPr/>
          <p:nvPr/>
        </p:nvSpPr>
        <p:spPr>
          <a:xfrm>
            <a:off x="6528816" y="4553712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예시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6492240" y="4882896"/>
            <a:ext cx="5239512" cy="1371600"/>
          </a:xfrm>
          <a:prstGeom prst="roundRect">
            <a:avLst>
              <a:gd name="adj" fmla="val 4000"/>
            </a:avLst>
          </a:prstGeom>
          <a:solidFill>
            <a:srgbClr val="F2F7FC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7"/>
          <p:cNvSpPr/>
          <p:nvPr/>
        </p:nvSpPr>
        <p:spPr>
          <a:xfrm>
            <a:off x="6656832" y="4974336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"카메라별 차량 대수"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23B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name, COUNT(DISTINCT track_id) FROM detection JOIN cctv USING(cctv_id) GROUP BY name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"송도IC 152대, 연수JCT 104대, 옥련IC 27대…"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DISTINCT 없으면 프레임 중복으로 대수가 수천으로 부풀려짐(few-shot에 명시)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0" y="6382512"/>
            <a:ext cx="12188952" cy="475488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9"/>
          <p:cNvSpPr/>
          <p:nvPr/>
        </p:nvSpPr>
        <p:spPr>
          <a:xfrm>
            <a:off x="548640" y="6382512"/>
            <a:ext cx="11091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 재생 중인 replay를 그대로 DB에 적재 — 보이는 것과 질의 결과가 일치</a:t>
            </a:r>
            <a:endParaRPr lang="en-US" sz="1250" dirty="0"/>
          </a:p>
        </p:txBody>
      </p:sp>
      <p:sp>
        <p:nvSpPr>
          <p:cNvPr id="53" name="Shape 50"/>
          <p:cNvSpPr/>
          <p:nvPr/>
        </p:nvSpPr>
        <p:spPr>
          <a:xfrm>
            <a:off x="11622024" y="6510528"/>
            <a:ext cx="365760" cy="237744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1"/>
          <p:cNvSpPr/>
          <p:nvPr/>
        </p:nvSpPr>
        <p:spPr>
          <a:xfrm>
            <a:off x="11622024" y="651052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GeoTrafficView-3D v2  ·  Traffic Digital Twin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68580" cy="42062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21792" y="548640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Ⅲ-1.  서울 TOPIS × 정밀도로지도 — 결합 원리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0936" y="1005840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영상과 지도가 모두 공개된 유일한 조합(상암)에서 한 카메라로 cm급 디지털 트윈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41655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41655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Ⅰ 개요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5099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65099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 워크플로우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8543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 w="63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88543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 cm급 트윈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11987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11987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 3D 표출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35431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35431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Ⅴ 탐지 고도화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058875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58875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Ⅵ 캘리브레이션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622024" y="6510528"/>
            <a:ext cx="365760" cy="237744"/>
          </a:xfrm>
          <a:prstGeom prst="rect">
            <a:avLst/>
          </a:prstGeom>
          <a:solidFill>
            <a:srgbClr val="EAF2F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1298448"/>
            <a:ext cx="1828800" cy="2743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93776" y="129844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상암인가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1627632"/>
            <a:ext cx="539496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58368" y="1773936"/>
            <a:ext cx="457200" cy="457200"/>
          </a:xfrm>
          <a:prstGeom prst="ellipse">
            <a:avLst/>
          </a:prstGeom>
          <a:solidFill>
            <a:srgbClr val="EAF2FA"/>
          </a:solidFill>
          <a:ln w="635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92808"/>
            <a:ext cx="219456" cy="219456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80160" y="17556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— 서울 TOPIS CCTV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1280160" y="202996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키·IP 인증 없이 HLS 직접 접근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실증 완료: 90프레임 캡처 → 추론 39트랙 → DB 적재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58368" y="2688336"/>
            <a:ext cx="457200" cy="457200"/>
          </a:xfrm>
          <a:prstGeom prst="ellipse">
            <a:avLst/>
          </a:prstGeom>
          <a:solidFill>
            <a:srgbClr val="EAF2FA"/>
          </a:solidFill>
          <a:ln w="635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807208"/>
            <a:ext cx="219456" cy="219456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280160" y="26700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— 3D 정밀도로지도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1280160" y="294436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서울시가 상암 자율주행 시범지구(~20km)에 구축,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민간 개방(2025) — 실측 측량 성과, 정점이 cm급 좌표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457200" y="3822192"/>
            <a:ext cx="2377440" cy="2743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7"/>
          <p:cNvSpPr/>
          <p:nvPr/>
        </p:nvSpPr>
        <p:spPr>
          <a:xfrm>
            <a:off x="493776" y="3822192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결합 원리 — 왜 cm급이 되는가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457200" y="4151376"/>
            <a:ext cx="5394960" cy="1956816"/>
          </a:xfrm>
          <a:prstGeom prst="roundRect">
            <a:avLst>
              <a:gd name="adj" fmla="val 2804"/>
            </a:avLst>
          </a:prstGeom>
          <a:solidFill>
            <a:srgbClr val="FFFFFF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9"/>
          <p:cNvSpPr/>
          <p:nvPr/>
        </p:nvSpPr>
        <p:spPr>
          <a:xfrm>
            <a:off x="658368" y="42793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[기존]  사람이 위성에서 눈대중 클릭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4114800" y="4279392"/>
            <a:ext cx="1554480" cy="310896"/>
          </a:xfrm>
          <a:prstGeom prst="roundRect">
            <a:avLst>
              <a:gd name="adj" fmla="val 14706"/>
            </a:avLst>
          </a:prstGeom>
          <a:solidFill>
            <a:srgbClr val="F6E3E1"/>
          </a:solidFill>
          <a:ln w="9525">
            <a:solidFill>
              <a:srgbClr val="D9A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1"/>
          <p:cNvSpPr/>
          <p:nvPr/>
        </p:nvSpPr>
        <p:spPr>
          <a:xfrm>
            <a:off x="4114800" y="427939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9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오차 1~2 m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58368" y="47365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[HD맵]  정밀도로지도 정점에 자동 스냅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4114800" y="4736592"/>
            <a:ext cx="1554480" cy="310896"/>
          </a:xfrm>
          <a:prstGeom prst="roundRect">
            <a:avLst>
              <a:gd name="adj" fmla="val 14706"/>
            </a:avLst>
          </a:prstGeom>
          <a:solidFill>
            <a:srgbClr val="DFF2EE"/>
          </a:solidFill>
          <a:ln w="9525">
            <a:solidFill>
              <a:srgbClr val="8FC7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4"/>
          <p:cNvSpPr/>
          <p:nvPr/>
        </p:nvSpPr>
        <p:spPr>
          <a:xfrm>
            <a:off x="4114800" y="473659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cm급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58368" y="523036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GCP 지도쪽 좌표 오차 요인을 완전히 제거 → 남는 것은 영상 픽셀 클릭 정밀도(1~3px)뿐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6309360" y="1298448"/>
            <a:ext cx="2377440" cy="2743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7"/>
          <p:cNvSpPr/>
          <p:nvPr/>
        </p:nvSpPr>
        <p:spPr>
          <a:xfrm>
            <a:off x="6345936" y="1298448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오차 전파 비교</a:t>
            </a:r>
            <a:endParaRPr lang="en-US" sz="105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627632"/>
          <a:ext cx="5422392" cy="153619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4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GCP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HD맵 GCP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지도쪽 좌표 (위성 클릭)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1~2 m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E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cm급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영상쪽 좌표 (픽셀 클릭)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1~3 px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1~3 px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투영 오차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 m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영상 클릭 정밀도가 지배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3" name="Shape 38"/>
          <p:cNvSpPr/>
          <p:nvPr/>
        </p:nvSpPr>
        <p:spPr>
          <a:xfrm>
            <a:off x="6309360" y="3291840"/>
            <a:ext cx="2377440" cy="2743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9"/>
          <p:cNvSpPr/>
          <p:nvPr/>
        </p:nvSpPr>
        <p:spPr>
          <a:xfrm>
            <a:off x="6345936" y="329184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HD맵 스냅 동작</a:t>
            </a:r>
            <a:endParaRPr lang="en-US" sz="1050" dirty="0"/>
          </a:p>
        </p:txBody>
      </p:sp>
      <p:sp>
        <p:nvSpPr>
          <p:cNvPr id="45" name="Shape 40"/>
          <p:cNvSpPr/>
          <p:nvPr/>
        </p:nvSpPr>
        <p:spPr>
          <a:xfrm>
            <a:off x="6309360" y="3621024"/>
            <a:ext cx="5422392" cy="2487168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1"/>
          <p:cNvSpPr/>
          <p:nvPr/>
        </p:nvSpPr>
        <p:spPr>
          <a:xfrm>
            <a:off x="6510528" y="3785616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2"/>
          <p:cNvSpPr/>
          <p:nvPr/>
        </p:nvSpPr>
        <p:spPr>
          <a:xfrm>
            <a:off x="6510528" y="3785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48" name="Text 43"/>
          <p:cNvSpPr/>
          <p:nvPr/>
        </p:nvSpPr>
        <p:spPr>
          <a:xfrm>
            <a:off x="7022592" y="3749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export_hdmap_snap.py — 정밀도로지도에서 정점 추출</a:t>
            </a:r>
            <a:endParaRPr lang="en-US" sz="1000" dirty="0"/>
          </a:p>
        </p:txBody>
      </p:sp>
      <p:sp>
        <p:nvSpPr>
          <p:cNvPr id="49" name="Text 44"/>
          <p:cNvSpPr/>
          <p:nvPr/>
        </p:nvSpPr>
        <p:spPr>
          <a:xfrm>
            <a:off x="7022592" y="40233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 노면표시(정지선·차선) · A2 차로 · C1 신호등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6510528" y="4553712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6"/>
          <p:cNvSpPr/>
          <p:nvPr/>
        </p:nvSpPr>
        <p:spPr>
          <a:xfrm>
            <a:off x="6510528" y="4553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52" name="Text 47"/>
          <p:cNvSpPr/>
          <p:nvPr/>
        </p:nvSpPr>
        <p:spPr>
          <a:xfrm>
            <a:off x="7022592" y="45171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hdmap.geojson 로드 (실측 20,141 정점)</a:t>
            </a:r>
            <a:endParaRPr lang="en-US" sz="1000" dirty="0"/>
          </a:p>
        </p:txBody>
      </p:sp>
      <p:sp>
        <p:nvSpPr>
          <p:cNvPr id="53" name="Text 48"/>
          <p:cNvSpPr/>
          <p:nvPr/>
        </p:nvSpPr>
        <p:spPr>
          <a:xfrm>
            <a:off x="7022592" y="479145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캘리브레이터에 오버레이</a:t>
            </a:r>
            <a:endParaRPr lang="en-US" sz="850" dirty="0"/>
          </a:p>
        </p:txBody>
      </p:sp>
      <p:sp>
        <p:nvSpPr>
          <p:cNvPr id="54" name="Shape 49"/>
          <p:cNvSpPr/>
          <p:nvPr/>
        </p:nvSpPr>
        <p:spPr>
          <a:xfrm>
            <a:off x="6510528" y="5321808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0"/>
          <p:cNvSpPr/>
          <p:nvPr/>
        </p:nvSpPr>
        <p:spPr>
          <a:xfrm>
            <a:off x="6510528" y="5321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56" name="Text 51"/>
          <p:cNvSpPr/>
          <p:nvPr/>
        </p:nvSpPr>
        <p:spPr>
          <a:xfrm>
            <a:off x="7022592" y="5285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클릭 → 15m 이내 HD맵 정점으로 자동 스냅</a:t>
            </a:r>
            <a:endParaRPr lang="en-US" sz="1000" dirty="0"/>
          </a:p>
        </p:txBody>
      </p:sp>
      <p:sp>
        <p:nvSpPr>
          <p:cNvPr id="57" name="Text 52"/>
          <p:cNvSpPr/>
          <p:nvPr/>
        </p:nvSpPr>
        <p:spPr>
          <a:xfrm>
            <a:off x="7022592" y="55595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송도 HD맵으로 검증 완료 — 스냅 동작 확인</a:t>
            </a:r>
            <a:endParaRPr lang="en-US" sz="850" dirty="0"/>
          </a:p>
        </p:txBody>
      </p:sp>
      <p:sp>
        <p:nvSpPr>
          <p:cNvPr id="58" name="Shape 53"/>
          <p:cNvSpPr/>
          <p:nvPr/>
        </p:nvSpPr>
        <p:spPr>
          <a:xfrm>
            <a:off x="0" y="6382512"/>
            <a:ext cx="12188952" cy="475488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4"/>
          <p:cNvSpPr/>
          <p:nvPr/>
        </p:nvSpPr>
        <p:spPr>
          <a:xfrm>
            <a:off x="548640" y="6382512"/>
            <a:ext cx="11091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GCP의 지도 클릭 오차(1~2m)를 실측 측량 성과로 대체 — 한 카메라에서 cm급 지오레퍼런스</a:t>
            </a:r>
            <a:endParaRPr lang="en-US" sz="1250" dirty="0"/>
          </a:p>
        </p:txBody>
      </p:sp>
      <p:sp>
        <p:nvSpPr>
          <p:cNvPr id="60" name="Shape 55"/>
          <p:cNvSpPr/>
          <p:nvPr/>
        </p:nvSpPr>
        <p:spPr>
          <a:xfrm>
            <a:off x="11622024" y="6510528"/>
            <a:ext cx="365760" cy="237744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6"/>
          <p:cNvSpPr/>
          <p:nvPr/>
        </p:nvSpPr>
        <p:spPr>
          <a:xfrm>
            <a:off x="11622024" y="651052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GeoTrafficView-3D v2  ·  Traffic Digital Twin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68580" cy="42062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21792" y="548640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Ⅲ-2.  현재 상태와 남은 작업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0936" y="1005840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TOPIS 파이프라인·HD맵 스냅은 완성 — 상암 HD맵 확보가 마지막 퍼즐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41655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41655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Ⅰ 개요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5099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65099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 워크플로우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8543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 w="63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88543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 cm급 트윈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11987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11987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 3D 표출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35431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35431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Ⅴ 탐지 고도화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058875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58875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Ⅵ 캘리브레이션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622024" y="6510528"/>
            <a:ext cx="365760" cy="237744"/>
          </a:xfrm>
          <a:prstGeom prst="rect">
            <a:avLst/>
          </a:prstGeom>
          <a:solidFill>
            <a:srgbClr val="EAF2F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1371600"/>
            <a:ext cx="694944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40080" y="1554480"/>
            <a:ext cx="475488" cy="475488"/>
          </a:xfrm>
          <a:prstGeom prst="ellipse">
            <a:avLst/>
          </a:prstGeom>
          <a:solidFill>
            <a:srgbClr val="EAF2FA"/>
          </a:solidFill>
          <a:ln w="635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1678107"/>
            <a:ext cx="228234" cy="228234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1298448" y="1645920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DFF2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1298448" y="164592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2340864" y="14813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TOPIS 영상 파이프라인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2340864" y="179222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상암 SANGAM01 등록 → SAHI 추론 39트랙 → 웹맵 표출 → DB 적재까지 실증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57200" y="2340864"/>
            <a:ext cx="694944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640080" y="2523744"/>
            <a:ext cx="475488" cy="475488"/>
          </a:xfrm>
          <a:prstGeom prst="ellipse">
            <a:avLst/>
          </a:prstGeom>
          <a:solidFill>
            <a:srgbClr val="EAF2FA"/>
          </a:solidFill>
          <a:ln w="635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2647371"/>
            <a:ext cx="228234" cy="228234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1298448" y="2615184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DFF2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6"/>
          <p:cNvSpPr/>
          <p:nvPr/>
        </p:nvSpPr>
        <p:spPr>
          <a:xfrm>
            <a:off x="1298448" y="261518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2340864" y="245059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HD맵 스냅 기능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2340864" y="276148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송도 HD맵 20,141 정점으로 검증 — 지도 클릭이 정점에 자동 스냅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457200" y="3310128"/>
            <a:ext cx="694944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0"/>
          <p:cNvSpPr/>
          <p:nvPr/>
        </p:nvSpPr>
        <p:spPr>
          <a:xfrm>
            <a:off x="640080" y="3493008"/>
            <a:ext cx="475488" cy="475488"/>
          </a:xfrm>
          <a:prstGeom prst="ellipse">
            <a:avLst/>
          </a:prstGeom>
          <a:solidFill>
            <a:srgbClr val="EAF2FA"/>
          </a:solidFill>
          <a:ln w="635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07" y="3616635"/>
            <a:ext cx="228234" cy="228234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1298448" y="3584448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FBF3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2"/>
          <p:cNvSpPr/>
          <p:nvPr/>
        </p:nvSpPr>
        <p:spPr>
          <a:xfrm>
            <a:off x="1298448" y="35844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886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작업</a:t>
            </a:r>
            <a:endParaRPr lang="en-US" sz="950" dirty="0"/>
          </a:p>
        </p:txBody>
      </p:sp>
      <p:sp>
        <p:nvSpPr>
          <p:cNvPr id="38" name="Text 33"/>
          <p:cNvSpPr/>
          <p:nvPr/>
        </p:nvSpPr>
        <p:spPr>
          <a:xfrm>
            <a:off x="2340864" y="341985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상암 3D 정밀도로지도 확보</a:t>
            </a:r>
            <a:endParaRPr lang="en-US" sz="1250" dirty="0"/>
          </a:p>
        </p:txBody>
      </p:sp>
      <p:sp>
        <p:nvSpPr>
          <p:cNvPr id="39" name="Text 34"/>
          <p:cNvSpPr/>
          <p:nvPr/>
        </p:nvSpPr>
        <p:spPr>
          <a:xfrm>
            <a:off x="2340864" y="373075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다운로드 후 --dir 지정만 하면 상암 카메라 cm급 캘리브레이션 완성</a:t>
            </a:r>
            <a:endParaRPr lang="en-US" sz="950" dirty="0"/>
          </a:p>
        </p:txBody>
      </p:sp>
      <p:sp>
        <p:nvSpPr>
          <p:cNvPr id="40" name="Shape 35"/>
          <p:cNvSpPr/>
          <p:nvPr/>
        </p:nvSpPr>
        <p:spPr>
          <a:xfrm>
            <a:off x="457200" y="4434840"/>
            <a:ext cx="2377440" cy="2743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6"/>
          <p:cNvSpPr/>
          <p:nvPr/>
        </p:nvSpPr>
        <p:spPr>
          <a:xfrm>
            <a:off x="493776" y="443484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보유 HD맵 커버리지 (실측)</a:t>
            </a:r>
            <a:endParaRPr lang="en-US" sz="1050" dirty="0"/>
          </a:p>
        </p:txBody>
      </p:sp>
      <p:sp>
        <p:nvSpPr>
          <p:cNvPr id="42" name="Shape 37"/>
          <p:cNvSpPr/>
          <p:nvPr/>
        </p:nvSpPr>
        <p:spPr>
          <a:xfrm>
            <a:off x="457200" y="4764024"/>
            <a:ext cx="69494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8"/>
          <p:cNvSpPr/>
          <p:nvPr/>
        </p:nvSpPr>
        <p:spPr>
          <a:xfrm>
            <a:off x="658368" y="4901184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보유: 인천송도 시범지구 · 경인선(120호선) 2종뿐</a:t>
            </a:r>
            <a:endParaRPr lang="en-US" sz="100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상암·판교 미커버 · 송도IC는 HD맵 경계 밖 · 경인선은 대상 카메라에서 12.8km 이탈</a:t>
            </a:r>
            <a:endParaRPr lang="en-US" sz="100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상암 HD맵만 확보되면 TOPIS 카메라 전체에 cm급 GCP 적용 가능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7680960" y="1371600"/>
            <a:ext cx="2011680" cy="2743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0"/>
          <p:cNvSpPr/>
          <p:nvPr/>
        </p:nvSpPr>
        <p:spPr>
          <a:xfrm>
            <a:off x="7717536" y="1371600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1050" dirty="0"/>
          </a:p>
        </p:txBody>
      </p:sp>
      <p:sp>
        <p:nvSpPr>
          <p:cNvPr id="46" name="Shape 41"/>
          <p:cNvSpPr/>
          <p:nvPr/>
        </p:nvSpPr>
        <p:spPr>
          <a:xfrm>
            <a:off x="7680960" y="1700784"/>
            <a:ext cx="4050792" cy="4434840"/>
          </a:xfrm>
          <a:prstGeom prst="roundRect">
            <a:avLst>
              <a:gd name="adj" fmla="val 1354"/>
            </a:avLst>
          </a:prstGeom>
          <a:solidFill>
            <a:srgbClr val="F2F7FC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2"/>
          <p:cNvSpPr/>
          <p:nvPr/>
        </p:nvSpPr>
        <p:spPr>
          <a:xfrm>
            <a:off x="7680960" y="2011680"/>
            <a:ext cx="4050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</a:t>
            </a:r>
            <a:endParaRPr lang="en-US" sz="5400" dirty="0"/>
          </a:p>
        </p:txBody>
      </p:sp>
      <p:sp>
        <p:nvSpPr>
          <p:cNvPr id="48" name="Text 43"/>
          <p:cNvSpPr/>
          <p:nvPr/>
        </p:nvSpPr>
        <p:spPr>
          <a:xfrm>
            <a:off x="7680960" y="288036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지도쪽 GCP 좌표 오차</a:t>
            </a:r>
            <a:endParaRPr lang="en-US" sz="1100" dirty="0"/>
          </a:p>
        </p:txBody>
      </p:sp>
      <p:sp>
        <p:nvSpPr>
          <p:cNvPr id="49" name="Text 44"/>
          <p:cNvSpPr/>
          <p:nvPr/>
        </p:nvSpPr>
        <p:spPr>
          <a:xfrm>
            <a:off x="7680960" y="315468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(기존 위성 눈대중 클릭 1~2m 대비)</a:t>
            </a:r>
            <a:endParaRPr lang="en-US" sz="900" dirty="0"/>
          </a:p>
        </p:txBody>
      </p:sp>
      <p:sp>
        <p:nvSpPr>
          <p:cNvPr id="50" name="Shape 45"/>
          <p:cNvSpPr/>
          <p:nvPr/>
        </p:nvSpPr>
        <p:spPr>
          <a:xfrm>
            <a:off x="8138160" y="3611880"/>
            <a:ext cx="3108960" cy="0"/>
          </a:xfrm>
          <a:prstGeom prst="line">
            <a:avLst/>
          </a:prstGeom>
          <a:noFill/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6"/>
          <p:cNvSpPr/>
          <p:nvPr/>
        </p:nvSpPr>
        <p:spPr>
          <a:xfrm>
            <a:off x="7973568" y="379476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오차 요인 하나(지도 좌표)를 구조적으로 제거</a:t>
            </a:r>
            <a:endParaRPr lang="en-US" sz="950" dirty="0"/>
          </a:p>
          <a:p>
            <a:pPr marL="101600" indent="-101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남는 병목은 영상 픽셀 정밀도 — 원거리에서 1px ≈ 수 m</a:t>
            </a:r>
            <a:endParaRPr lang="en-US" sz="950" dirty="0"/>
          </a:p>
          <a:p>
            <a:pPr marL="101600" indent="-101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정지선·횡단보도 등 노면표시가 많은 도심 교차로에 특히 유리</a:t>
            </a:r>
            <a:endParaRPr lang="en-US" sz="950" dirty="0"/>
          </a:p>
        </p:txBody>
      </p:sp>
      <p:sp>
        <p:nvSpPr>
          <p:cNvPr id="52" name="Shape 47"/>
          <p:cNvSpPr/>
          <p:nvPr/>
        </p:nvSpPr>
        <p:spPr>
          <a:xfrm>
            <a:off x="0" y="6382512"/>
            <a:ext cx="12188952" cy="475488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48"/>
          <p:cNvSpPr/>
          <p:nvPr/>
        </p:nvSpPr>
        <p:spPr>
          <a:xfrm>
            <a:off x="548640" y="6382512"/>
            <a:ext cx="11091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영상(TOPIS) + 공개 실측 지도(정밀도로지도) = 비용 0의 cm급 도심 디지털 트윈</a:t>
            </a:r>
            <a:endParaRPr lang="en-US" sz="1250" dirty="0"/>
          </a:p>
        </p:txBody>
      </p:sp>
      <p:sp>
        <p:nvSpPr>
          <p:cNvPr id="54" name="Shape 49"/>
          <p:cNvSpPr/>
          <p:nvPr/>
        </p:nvSpPr>
        <p:spPr>
          <a:xfrm>
            <a:off x="11622024" y="6510528"/>
            <a:ext cx="365760" cy="237744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0"/>
          <p:cNvSpPr/>
          <p:nvPr/>
        </p:nvSpPr>
        <p:spPr>
          <a:xfrm>
            <a:off x="11622024" y="651052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GeoTrafficView-3D v2  ·  Traffic Digital Twin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68580" cy="42062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21792" y="548640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Ⅳ-1.  MapLibre 고해상 위성지도 위 이동체 구현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0936" y="1005840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Esri·Maxar·CNES/Airbus DS 위성 타일 위에 실좌표 fill-extrusion 3D 박스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41655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41655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Ⅰ 개요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5099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65099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 워크플로우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8543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88543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 cm급 트윈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11987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 w="63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11987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 3D 표출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35431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35431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Ⅴ 탐지 고도화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058875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58875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Ⅵ 캘리브레이션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622024" y="6510528"/>
            <a:ext cx="365760" cy="237744"/>
          </a:xfrm>
          <a:prstGeom prst="rect">
            <a:avLst/>
          </a:prstGeom>
          <a:solidFill>
            <a:srgbClr val="EAF2F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1298448"/>
            <a:ext cx="2651760" cy="2743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93776" y="1298448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위성 basemap (토큰 불필요)</a:t>
            </a:r>
            <a:endParaRPr lang="en-US" sz="10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27632"/>
          <a:ext cx="5669280" cy="109728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레이어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해상도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Esri World Imagery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Esri · Maxar · Earthstar · CNES/Airbus DS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도심 수십 cm급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Sentinel-2 cloudless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EOX (구름 제거 합성)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 m · 전 지구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457200" y="2926080"/>
            <a:ext cx="2377440" cy="2743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493776" y="292608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이동체를 지도에 올리는 경로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57200" y="3255264"/>
            <a:ext cx="566928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2"/>
          <p:cNvSpPr/>
          <p:nvPr/>
        </p:nvSpPr>
        <p:spPr>
          <a:xfrm>
            <a:off x="658368" y="3401568"/>
            <a:ext cx="1783080" cy="402336"/>
          </a:xfrm>
          <a:prstGeom prst="roundRect">
            <a:avLst>
              <a:gd name="adj" fmla="val 11364"/>
            </a:avLst>
          </a:prstGeom>
          <a:solidFill>
            <a:srgbClr val="EAF2FA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/>
          <p:nvPr/>
        </p:nvSpPr>
        <p:spPr>
          <a:xfrm>
            <a:off x="658368" y="3401568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sat_floor_box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2606040" y="340156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프레임별 바닥 4점 (로컬 미터)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58368" y="3913632"/>
            <a:ext cx="1783080" cy="402336"/>
          </a:xfrm>
          <a:prstGeom prst="roundRect">
            <a:avLst>
              <a:gd name="adj" fmla="val 11364"/>
            </a:avLst>
          </a:prstGeom>
          <a:solidFill>
            <a:srgbClr val="EAF2FA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658368" y="391363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world.origin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2606040" y="391363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UTM52N (EPSG:32652)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58368" y="4425696"/>
            <a:ext cx="1783080" cy="402336"/>
          </a:xfrm>
          <a:prstGeom prst="roundRect">
            <a:avLst>
              <a:gd name="adj" fmla="val 11364"/>
            </a:avLst>
          </a:prstGeom>
          <a:solidFill>
            <a:srgbClr val="EAF2FA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658368" y="4425696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proj4 변환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2606040" y="442569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WGS84 폴리곤 → GeoJSON Feature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658368" y="4937760"/>
            <a:ext cx="1783080" cy="402336"/>
          </a:xfrm>
          <a:prstGeom prst="roundRect">
            <a:avLst>
              <a:gd name="adj" fmla="val 11364"/>
            </a:avLst>
          </a:prstGeom>
          <a:solidFill>
            <a:srgbClr val="EAF2FA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658368" y="493776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setData()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2606040" y="493776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properties: 클래스별 height · color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658368" y="5449824"/>
            <a:ext cx="1783080" cy="402336"/>
          </a:xfrm>
          <a:prstGeom prst="roundRect">
            <a:avLst>
              <a:gd name="adj" fmla="val 11364"/>
            </a:avLst>
          </a:prstGeom>
          <a:solidFill>
            <a:srgbClr val="1F3864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658368" y="5449824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fill-extrusion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2606040" y="544982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 1.55m · bus 3.5m 압출, opacity 0.8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6492240" y="1298448"/>
            <a:ext cx="1828800" cy="2743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/>
          <p:nvPr/>
        </p:nvSpPr>
        <p:spPr>
          <a:xfrm>
            <a:off x="6528816" y="129844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포인트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6492240" y="1627632"/>
            <a:ext cx="5239512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0"/>
          <p:cNvSpPr/>
          <p:nvPr/>
        </p:nvSpPr>
        <p:spPr>
          <a:xfrm>
            <a:off x="6675120" y="1773936"/>
            <a:ext cx="4892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실좌표 폴리곤 + 높이 압출 — 줌·회전·pitch에 대해 정확히 변형 (영상 패널의 8점 박스와 역할 분담)</a:t>
            </a:r>
            <a:endParaRPr lang="en-US" sz="9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클래스별 높이·색은 properties로 — GPU 데이터 기반 스타일링, 수백 객체도 부담 없음</a:t>
            </a:r>
            <a:endParaRPr lang="en-US" sz="9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클릭 시 flyTo(pitch 60° · bearing 20° · zoom 18)로 3D감 연출</a:t>
            </a:r>
            <a:endParaRPr lang="en-US" sz="9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마커: replay 카메라는 연두/시안 강조, dedup으로 중복 제거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6492240" y="3913632"/>
            <a:ext cx="2377440" cy="2743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2"/>
          <p:cNvSpPr/>
          <p:nvPr/>
        </p:nvSpPr>
        <p:spPr>
          <a:xfrm>
            <a:off x="6528816" y="3913632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↔ 지도 동기 (이중 패널)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6492240" y="4242816"/>
            <a:ext cx="5239512" cy="1847088"/>
          </a:xfrm>
          <a:prstGeom prst="roundRect">
            <a:avLst>
              <a:gd name="adj" fmla="val 2970"/>
            </a:avLst>
          </a:prstGeom>
          <a:solidFill>
            <a:srgbClr val="F2F7FC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4"/>
          <p:cNvSpPr/>
          <p:nvPr/>
        </p:nvSpPr>
        <p:spPr>
          <a:xfrm>
            <a:off x="6675120" y="43708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23B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 = floor(video.currentTime × fps)   ← 영상이 마스터 클럭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6675120" y="4700016"/>
            <a:ext cx="4892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좌: canvas에 bbox_3d 8점 → 6면 핑크 3D 박스</a:t>
            </a:r>
            <a:endParaRPr lang="en-US" sz="950" dirty="0"/>
          </a:p>
          <a:p>
            <a:pPr marL="101600" indent="-1016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우: 같은 프레임 sat_floor_box → setData() — seek 시 즉시 동기</a:t>
            </a:r>
            <a:endParaRPr lang="en-US" sz="950" dirty="0"/>
          </a:p>
          <a:p>
            <a:pPr marL="101600" indent="-1016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.json.gz replay는 gzip 매직바이트 확인 후 DecompressionStream 해제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0" y="6382512"/>
            <a:ext cx="12188952" cy="475488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7"/>
          <p:cNvSpPr/>
          <p:nvPr/>
        </p:nvSpPr>
        <p:spPr>
          <a:xfrm>
            <a:off x="548640" y="6382512"/>
            <a:ext cx="11091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무거운 Cesium·점군 없이 — 위성 타일 + GPU 압출만으로 도시 규모 3D 교통 표출</a:t>
            </a:r>
            <a:endParaRPr lang="en-US" sz="1250" dirty="0"/>
          </a:p>
        </p:txBody>
      </p:sp>
      <p:sp>
        <p:nvSpPr>
          <p:cNvPr id="51" name="Shape 48"/>
          <p:cNvSpPr/>
          <p:nvPr/>
        </p:nvSpPr>
        <p:spPr>
          <a:xfrm>
            <a:off x="11622024" y="6510528"/>
            <a:ext cx="365760" cy="237744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9"/>
          <p:cNvSpPr/>
          <p:nvPr/>
        </p:nvSpPr>
        <p:spPr>
          <a:xfrm>
            <a:off x="11622024" y="651052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GeoTrafficView-3D v2  ·  Traffic Digital Twin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68580" cy="42062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21792" y="548640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Ⅳ-2.  CCTV 마커 위치와 오차 실측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0936" y="1005840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ITS cctvInfo(HLS) 보고 좌표로 마커를 찍되 — 그 좌표와 실제 관측 영역의 오차를 실측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41655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41655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Ⅰ 개요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5099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65099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 워크플로우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8543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88543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 cm급 트윈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11987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 w="63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11987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 3D 표출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35431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35431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Ⅴ 탐지 고도화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058875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58875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Ⅵ 캘리브레이션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622024" y="6510528"/>
            <a:ext cx="365760" cy="237744"/>
          </a:xfrm>
          <a:prstGeom prst="rect">
            <a:avLst/>
          </a:prstGeom>
          <a:solidFill>
            <a:srgbClr val="EAF2F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1298448"/>
            <a:ext cx="1828800" cy="2743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93776" y="129844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1627632"/>
            <a:ext cx="5120640" cy="1408176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0080" y="1755648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ITS API가 주는 것: CCTV 설치 지점 좌표</a:t>
            </a:r>
            <a:endParaRPr lang="en-US" sz="1000" dirty="0"/>
          </a:p>
          <a:p>
            <a:pPr marL="101600" indent="-1016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지도에 필요한 것: 카메라가 실제 관측하는 도로 영역</a:t>
            </a:r>
            <a:endParaRPr lang="en-US" sz="1000" dirty="0"/>
          </a:p>
          <a:p>
            <a:pPr marL="101600" indent="-1016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둘은 일치하지 않는다 — 마커를 어디에 찍을 것인가?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200400"/>
            <a:ext cx="1828800" cy="2743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93776" y="320040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오차의 두 성분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529584"/>
            <a:ext cx="51206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40080" y="365760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기하학적으로 당연한 성분 — 카메라는 도로를 100~300m 내다봄</a:t>
            </a:r>
            <a:endParaRPr lang="en-US" sz="950" dirty="0"/>
          </a:p>
          <a:p>
            <a:pPr marL="101600" indent="-1016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ITS 좌표 자체의 부정확 — 노선·IC 단위 대표 좌표 존재</a:t>
            </a:r>
            <a:endParaRPr lang="en-US" sz="950" dirty="0"/>
          </a:p>
          <a:p>
            <a:pPr marL="101600" indent="-1016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연수JCT 793m는 ①만으로 설명 불가 → 좌표 부정확 의심(기하 타당성도 불합격)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5230368"/>
            <a:ext cx="1828800" cy="2743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93776" y="523036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결정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5559552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2F7FC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21792" y="555955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마커 위치 = 캘리브레이션된 world.origin</a:t>
            </a:r>
            <a:r>
              <a:rPr lang="en-US" sz="950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+ 이름 동일·250m 이내 원본 ITS 마커 dedup(마커 '튐' 방지)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35040" y="1298448"/>
            <a:ext cx="3108960" cy="2743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071616" y="1298448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— ITS 보고 좌표 vs 캘리브 원점</a:t>
            </a:r>
            <a:endParaRPr lang="en-US" sz="105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627632"/>
          <a:ext cx="5696712" cy="2029968"/>
        </p:xfrm>
        <a:graphic>
          <a:graphicData uri="http://schemas.openxmlformats.org/drawingml/2006/table">
            <a:tbl>
              <a:tblPr/>
              <a:tblGrid>
                <a:gridCol w="2862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카메라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GCP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PANGYO_2 (경부선 판교)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93.0 m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OKRYEON_IC (옥련IC)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171.1 m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SONGDO_IC (송도IC)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190.1 m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YEONSU_JCT (연수JCT)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A944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792.8 m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SANGAM01 (상암·자동)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m (동일 좌표 사용)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" name="Shape 31"/>
          <p:cNvSpPr/>
          <p:nvPr/>
        </p:nvSpPr>
        <p:spPr>
          <a:xfrm>
            <a:off x="6035040" y="3986784"/>
            <a:ext cx="5696712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6035040" y="4224528"/>
            <a:ext cx="5696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93 ~ 793 m</a:t>
            </a:r>
            <a:endParaRPr lang="en-US" sz="4400" dirty="0"/>
          </a:p>
        </p:txBody>
      </p:sp>
      <p:sp>
        <p:nvSpPr>
          <p:cNvPr id="36" name="Text 33"/>
          <p:cNvSpPr/>
          <p:nvPr/>
        </p:nvSpPr>
        <p:spPr>
          <a:xfrm>
            <a:off x="6035040" y="507492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ITS 보고 좌표 ↔ 실제 관측 영역 중심 거리  (5대 실측 · 평균 312m)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035040" y="5413248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ITS 좌표를 그대로 믿고 마커를 찍으면 최대 800m 어긋난다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0" y="6382512"/>
            <a:ext cx="12188952" cy="475488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6"/>
          <p:cNvSpPr/>
          <p:nvPr/>
        </p:nvSpPr>
        <p:spPr>
          <a:xfrm>
            <a:off x="548640" y="6382512"/>
            <a:ext cx="11091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마커는 ITS 보고 좌표가 아닌 캘리브레이션 원점에 — placeholder 카메라는 오차 인지 후 사용</a:t>
            </a:r>
            <a:endParaRPr lang="en-US" sz="1250" dirty="0"/>
          </a:p>
        </p:txBody>
      </p:sp>
      <p:sp>
        <p:nvSpPr>
          <p:cNvPr id="40" name="Shape 37"/>
          <p:cNvSpPr/>
          <p:nvPr/>
        </p:nvSpPr>
        <p:spPr>
          <a:xfrm>
            <a:off x="11622024" y="6510528"/>
            <a:ext cx="365760" cy="237744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/>
          <p:nvPr/>
        </p:nvSpPr>
        <p:spPr>
          <a:xfrm>
            <a:off x="11622024" y="651052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GeoTrafficView-3D v2  ·  Traffic Digital Twin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68580" cy="42062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21792" y="548640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Ⅴ-1.  객체 탐지 고도화 — 기존 구현 방식에 맞춘 개선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0936" y="1005840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원칙: 더 큰 모델이 아니라 파이프라인의 약한 고리를 겨냥한다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41655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41655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Ⅰ 개요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5099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65099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 워크플로우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8543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88543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 cm급 트윈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11987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11987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 3D 표출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35431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 w="63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35431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Ⅴ 탐지 고도화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058875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58875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Ⅵ 캘리브레이션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622024" y="6510528"/>
            <a:ext cx="365760" cy="237744"/>
          </a:xfrm>
          <a:prstGeom prst="rect">
            <a:avLst/>
          </a:prstGeom>
          <a:solidFill>
            <a:srgbClr val="EAF2F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1298448"/>
            <a:ext cx="2377440" cy="2743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93776" y="1298448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검출 성능 (동일 클립 450프레임)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1627632"/>
            <a:ext cx="585216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58368" y="1828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YOLO11n · COCO 풀프레임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58368" y="2103120"/>
            <a:ext cx="467103" cy="274320"/>
          </a:xfrm>
          <a:prstGeom prst="rect">
            <a:avLst/>
          </a:prstGeom>
          <a:solidFill>
            <a:srgbClr val="5F718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198623" y="20848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824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749040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58368" y="26151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YOLO11x · imgsz 1280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58368" y="2889504"/>
            <a:ext cx="1037377" cy="274320"/>
          </a:xfrm>
          <a:prstGeom prst="rect">
            <a:avLst/>
          </a:prstGeom>
          <a:solidFill>
            <a:srgbClr val="1D5FA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1768897" y="28712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1,830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749040" y="26151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확대 (2.2×)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58368" y="34015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VisDrone + SAHI 슬라이싱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58368" y="3675888"/>
            <a:ext cx="4480560" cy="27432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212080" y="3657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7,904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749040" y="3401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기법 교체 (9.6× / 트랙 152개)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492240" y="1298448"/>
            <a:ext cx="2194560" cy="2743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6528816" y="1298448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완료 기법 (근거 논문)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92240" y="1627632"/>
            <a:ext cx="5239512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1746504"/>
            <a:ext cx="237744" cy="237744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7004304" y="162763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SAHI 슬라이싱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8796528" y="1627632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384px 타일·20% 중첩 → 원거리 소형차 검출 (ICIP'22)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6492240" y="2176272"/>
            <a:ext cx="5239512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2295144"/>
            <a:ext cx="237744" cy="237744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7004304" y="217627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VisDrone 도메인 모델</a:t>
            </a:r>
            <a:endParaRPr lang="en-US" sz="950" dirty="0"/>
          </a:p>
        </p:txBody>
      </p:sp>
      <p:sp>
        <p:nvSpPr>
          <p:cNvPr id="43" name="Text 39"/>
          <p:cNvSpPr/>
          <p:nvPr/>
        </p:nvSpPr>
        <p:spPr>
          <a:xfrm>
            <a:off x="8796528" y="2176272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COCO 오분류(train/boat) 제거 · van/삼륜 구분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6492240" y="2724912"/>
            <a:ext cx="5239512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6832" y="2843784"/>
            <a:ext cx="237744" cy="237744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7004304" y="272491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ROI 기하 필터</a:t>
            </a:r>
            <a:endParaRPr lang="en-US" sz="950" dirty="0"/>
          </a:p>
        </p:txBody>
      </p:sp>
      <p:sp>
        <p:nvSpPr>
          <p:cNvPr id="47" name="Text 42"/>
          <p:cNvSpPr/>
          <p:nvPr/>
        </p:nvSpPr>
        <p:spPr>
          <a:xfrm>
            <a:off x="8796528" y="2724912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도로영역 폴리곤 밖 검출 폐기 — 실측 19% 필터</a:t>
            </a:r>
            <a:endParaRPr lang="en-US" sz="800" dirty="0"/>
          </a:p>
        </p:txBody>
      </p:sp>
      <p:sp>
        <p:nvSpPr>
          <p:cNvPr id="48" name="Shape 43"/>
          <p:cNvSpPr/>
          <p:nvPr/>
        </p:nvSpPr>
        <p:spPr>
          <a:xfrm>
            <a:off x="6492240" y="3273552"/>
            <a:ext cx="5239512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6832" y="3392424"/>
            <a:ext cx="237744" cy="237744"/>
          </a:xfrm>
          <a:prstGeom prst="rect">
            <a:avLst/>
          </a:prstGeom>
        </p:spPr>
      </p:pic>
      <p:sp>
        <p:nvSpPr>
          <p:cNvPr id="50" name="Text 44"/>
          <p:cNvSpPr/>
          <p:nvPr/>
        </p:nvSpPr>
        <p:spPr>
          <a:xfrm>
            <a:off x="7004304" y="327355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차선 heading 프라이어</a:t>
            </a:r>
            <a:endParaRPr lang="en-US" sz="950" dirty="0"/>
          </a:p>
        </p:txBody>
      </p:sp>
      <p:sp>
        <p:nvSpPr>
          <p:cNvPr id="51" name="Text 45"/>
          <p:cNvSpPr/>
          <p:nvPr/>
        </p:nvSpPr>
        <p:spPr>
          <a:xfrm>
            <a:off x="8796528" y="3273552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정지·가림 차량의 방향 안정화</a:t>
            </a:r>
            <a:endParaRPr lang="en-US" sz="800" dirty="0"/>
          </a:p>
        </p:txBody>
      </p:sp>
      <p:sp>
        <p:nvSpPr>
          <p:cNvPr id="52" name="Shape 46"/>
          <p:cNvSpPr/>
          <p:nvPr/>
        </p:nvSpPr>
        <p:spPr>
          <a:xfrm>
            <a:off x="6492240" y="3822192"/>
            <a:ext cx="5239512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6832" y="3941064"/>
            <a:ext cx="237744" cy="237744"/>
          </a:xfrm>
          <a:prstGeom prst="rect">
            <a:avLst/>
          </a:prstGeom>
        </p:spPr>
      </p:pic>
      <p:sp>
        <p:nvSpPr>
          <p:cNvPr id="54" name="Text 47"/>
          <p:cNvSpPr/>
          <p:nvPr/>
        </p:nvSpPr>
        <p:spPr>
          <a:xfrm>
            <a:off x="7004304" y="382219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차선 정렬 (lane snap)</a:t>
            </a:r>
            <a:endParaRPr lang="en-US" sz="950" dirty="0"/>
          </a:p>
        </p:txBody>
      </p:sp>
      <p:sp>
        <p:nvSpPr>
          <p:cNvPr id="55" name="Text 48"/>
          <p:cNvSpPr/>
          <p:nvPr/>
        </p:nvSpPr>
        <p:spPr>
          <a:xfrm>
            <a:off x="8796528" y="3822192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HD맵 A2_LINK/OSM 스냅 99% · 이동 평균 0.90m · 방향 보정 7.7°</a:t>
            </a:r>
            <a:endParaRPr lang="en-US" sz="800" dirty="0"/>
          </a:p>
        </p:txBody>
      </p:sp>
      <p:sp>
        <p:nvSpPr>
          <p:cNvPr id="56" name="Shape 49"/>
          <p:cNvSpPr/>
          <p:nvPr/>
        </p:nvSpPr>
        <p:spPr>
          <a:xfrm>
            <a:off x="457200" y="4434840"/>
            <a:ext cx="2377440" cy="2743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0"/>
          <p:cNvSpPr/>
          <p:nvPr/>
        </p:nvSpPr>
        <p:spPr>
          <a:xfrm>
            <a:off x="493776" y="443484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스냅 통계 = 캘리브 품질 지표</a:t>
            </a:r>
            <a:endParaRPr lang="en-US" sz="1050" dirty="0"/>
          </a:p>
        </p:txBody>
      </p:sp>
      <p:sp>
        <p:nvSpPr>
          <p:cNvPr id="58" name="Shape 51"/>
          <p:cNvSpPr/>
          <p:nvPr/>
        </p:nvSpPr>
        <p:spPr>
          <a:xfrm>
            <a:off x="457200" y="4764024"/>
            <a:ext cx="5852160" cy="1316736"/>
          </a:xfrm>
          <a:prstGeom prst="roundRect">
            <a:avLst>
              <a:gd name="adj" fmla="val 4167"/>
            </a:avLst>
          </a:prstGeom>
          <a:solidFill>
            <a:srgbClr val="F2F7FC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2"/>
          <p:cNvSpPr/>
          <p:nvPr/>
        </p:nvSpPr>
        <p:spPr>
          <a:xfrm>
            <a:off x="640080" y="4892040"/>
            <a:ext cx="54864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GCP 캘리브 카메라: 스냅률 87~99% · 이동 &lt;1m — 정상</a:t>
            </a:r>
            <a:endParaRPr lang="en-US" sz="950" dirty="0"/>
          </a:p>
          <a:p>
            <a:pPr marL="101600" indent="-1016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placeholder 카메라: 스냅률 13% · 방향 보정 73~84° — GCP 보정이 먼저</a:t>
            </a:r>
            <a:endParaRPr lang="en-US" sz="950" dirty="0"/>
          </a:p>
          <a:p>
            <a:pPr marL="101600" indent="-1016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스냅률 &lt;50% 또는 heading 보정 &gt;45°면 도구가 자동 경고</a:t>
            </a:r>
            <a:endParaRPr lang="en-US" sz="950" dirty="0"/>
          </a:p>
        </p:txBody>
      </p:sp>
      <p:sp>
        <p:nvSpPr>
          <p:cNvPr id="60" name="Shape 53"/>
          <p:cNvSpPr/>
          <p:nvPr/>
        </p:nvSpPr>
        <p:spPr>
          <a:xfrm>
            <a:off x="6492240" y="4434840"/>
            <a:ext cx="2194560" cy="2743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4"/>
          <p:cNvSpPr/>
          <p:nvPr/>
        </p:nvSpPr>
        <p:spPr>
          <a:xfrm>
            <a:off x="6528816" y="443484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후보 (미적용)</a:t>
            </a:r>
            <a:endParaRPr lang="en-US" sz="1050" dirty="0"/>
          </a:p>
        </p:txBody>
      </p:sp>
      <p:sp>
        <p:nvSpPr>
          <p:cNvPr id="62" name="Shape 55"/>
          <p:cNvSpPr/>
          <p:nvPr/>
        </p:nvSpPr>
        <p:spPr>
          <a:xfrm>
            <a:off x="6492240" y="4764024"/>
            <a:ext cx="5239512" cy="131673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56"/>
          <p:cNvSpPr/>
          <p:nvPr/>
        </p:nvSpPr>
        <p:spPr>
          <a:xfrm>
            <a:off x="6675120" y="489204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TTA+WBF(IVC'21) · Soft Teacher(ICCV'21)/Ekya(NSDI'22) 카메라 특화 · YOLOV(AAAI'23) 시간축 집계 · BEVHeight(CVPR'23) · V2X-ViT(ECCV'22)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단, BEVHeight류는 정확한 카메라 파라미터·3D 라벨 전제 — 무리한 적용은 역효과</a:t>
            </a:r>
            <a:endParaRPr lang="en-US" sz="850" dirty="0"/>
          </a:p>
        </p:txBody>
      </p:sp>
      <p:sp>
        <p:nvSpPr>
          <p:cNvPr id="64" name="Shape 57"/>
          <p:cNvSpPr/>
          <p:nvPr/>
        </p:nvSpPr>
        <p:spPr>
          <a:xfrm>
            <a:off x="0" y="6382512"/>
            <a:ext cx="12188952" cy="475488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58"/>
          <p:cNvSpPr/>
          <p:nvPr/>
        </p:nvSpPr>
        <p:spPr>
          <a:xfrm>
            <a:off x="548640" y="6382512"/>
            <a:ext cx="11091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확대(2.2×)보다 기법 교체(9.6×) — 검출 824 → 7,904 · 트랙 18 → 152</a:t>
            </a:r>
            <a:endParaRPr lang="en-US" sz="1250" dirty="0"/>
          </a:p>
        </p:txBody>
      </p:sp>
      <p:sp>
        <p:nvSpPr>
          <p:cNvPr id="66" name="Shape 59"/>
          <p:cNvSpPr/>
          <p:nvPr/>
        </p:nvSpPr>
        <p:spPr>
          <a:xfrm>
            <a:off x="11622024" y="6510528"/>
            <a:ext cx="365760" cy="237744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0"/>
          <p:cNvSpPr/>
          <p:nvPr/>
        </p:nvSpPr>
        <p:spPr>
          <a:xfrm>
            <a:off x="11622024" y="651052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GeoTrafficView-3D v2  ·  Traffic Digital Twin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68580" cy="42062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21792" y="548640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Ⅴ-2.  BEV 추적 A/B 실험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0936" y="1005840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IoU 연관은 오블리크 뷰에서 무너진다 — 지면(BEV) 좌표에서 다시 연관한다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41655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41655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Ⅰ 개요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5099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65099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 워크플로우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8543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88543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 cm급 트윈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11987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11987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 3D 표출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35431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 w="63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35431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Ⅴ 탐지 고도화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058875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58875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Ⅵ 캘리브레이션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622024" y="6510528"/>
            <a:ext cx="365760" cy="237744"/>
          </a:xfrm>
          <a:prstGeom prst="rect">
            <a:avLst/>
          </a:prstGeom>
          <a:solidFill>
            <a:srgbClr val="EAF2F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1298448"/>
            <a:ext cx="1828800" cy="2743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93776" y="129844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(실측)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1627632"/>
            <a:ext cx="53949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0080" y="17373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A9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트랙 수명 중앙값 0.78~0.92초 · 0.5초 미만 트랙 33~42%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심각한 ID 파편화: 차선 변경도 통계도 신뢰 불가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2798064"/>
            <a:ext cx="2377440" cy="2743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93776" y="2798064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— bev_tracker.py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127248"/>
            <a:ext cx="539496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40080" y="3255264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지면 투영(미터) → 등속 Kalman → 2단계 연관(ByteTrack식)</a:t>
            </a:r>
            <a:endParaRPr lang="en-US" sz="9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연관 비용 = 마할라노비스 √(δᵀ(P+R)⁻¹δ), R = 투영 공분산(이방성)</a:t>
            </a:r>
            <a:endParaRPr lang="en-US" sz="9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OC-SORT 3요소: OCM 방향 일관성 · ORU 가림 후 재설정 · OCR 관측 기반 2차 연관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5047488"/>
            <a:ext cx="2377440" cy="2743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93776" y="5047488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마할라노비스인가 (측정)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5376672"/>
            <a:ext cx="5394960" cy="749808"/>
          </a:xfrm>
          <a:prstGeom prst="roundRect">
            <a:avLst>
              <a:gd name="adj" fmla="val 7317"/>
            </a:avLst>
          </a:prstGeom>
          <a:solidFill>
            <a:srgbClr val="F2F7FC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21792" y="5449824"/>
            <a:ext cx="5074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3px 지터 → 지면: 횡 σ 0.7~0.9m vs 종 σ 2.2~3.2m (3~4배 이방성) · 차로 간격 3.5m — 등방 게이트는 옆 차로와 ID 혼동, 마할라노비스는 차로 구분 보존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309360" y="1298448"/>
            <a:ext cx="3291840" cy="2743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345936" y="1298448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 시뮬 A/B — 판정을 뒤집은 캘리브레이션</a:t>
            </a:r>
            <a:endParaRPr lang="en-US" sz="105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627632"/>
          <a:ext cx="5422392" cy="1609344"/>
        </p:xfrm>
        <a:graphic>
          <a:graphicData uri="http://schemas.openxmlformats.org/drawingml/2006/table">
            <a:tbl>
              <a:tblPr/>
              <a:tblGrid>
                <a:gridCol w="2313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GCP 4점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MOTA / IDF1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GCP 10점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MOTA / IDF1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A. ByteTrack (이미지 IoU)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D5FA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0.283 / 0.263  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0.319 / 0.298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B. BEV 등방 유클리드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0.187 / 0.167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0.328 / 0.262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C. BEV 마할라노비스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0.243 / 0.260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E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0.345 / 0.318  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Shape 31"/>
          <p:cNvSpPr/>
          <p:nvPr/>
        </p:nvSpPr>
        <p:spPr>
          <a:xfrm>
            <a:off x="6309360" y="3657600"/>
            <a:ext cx="2377440" cy="2743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6345936" y="365760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실데이터 개선 (판교)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6309360" y="3986784"/>
            <a:ext cx="17373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/>
          <p:nvPr/>
        </p:nvSpPr>
        <p:spPr>
          <a:xfrm>
            <a:off x="6355080" y="40965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 → 99</a:t>
            </a:r>
            <a:endParaRPr lang="en-US" sz="1350" dirty="0"/>
          </a:p>
        </p:txBody>
      </p:sp>
      <p:sp>
        <p:nvSpPr>
          <p:cNvPr id="38" name="Text 35"/>
          <p:cNvSpPr/>
          <p:nvPr/>
        </p:nvSpPr>
        <p:spPr>
          <a:xfrm>
            <a:off x="6355080" y="451713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트랙 수 (파편 감소)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8165592" y="3986784"/>
            <a:ext cx="17373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7"/>
          <p:cNvSpPr/>
          <p:nvPr/>
        </p:nvSpPr>
        <p:spPr>
          <a:xfrm>
            <a:off x="8211312" y="40965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0.92 → 1.93초</a:t>
            </a:r>
            <a:endParaRPr lang="en-US" sz="1350" dirty="0"/>
          </a:p>
        </p:txBody>
      </p:sp>
      <p:sp>
        <p:nvSpPr>
          <p:cNvPr id="41" name="Text 38"/>
          <p:cNvSpPr/>
          <p:nvPr/>
        </p:nvSpPr>
        <p:spPr>
          <a:xfrm>
            <a:off x="8211312" y="451713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수명 중앙값 2.1×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10021824" y="3986784"/>
            <a:ext cx="17373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0"/>
          <p:cNvSpPr/>
          <p:nvPr/>
        </p:nvSpPr>
        <p:spPr>
          <a:xfrm>
            <a:off x="10067544" y="40965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33% → 11%</a:t>
            </a:r>
            <a:endParaRPr lang="en-US" sz="1350" dirty="0"/>
          </a:p>
        </p:txBody>
      </p:sp>
      <p:sp>
        <p:nvSpPr>
          <p:cNvPr id="44" name="Text 41"/>
          <p:cNvSpPr/>
          <p:nvPr/>
        </p:nvSpPr>
        <p:spPr>
          <a:xfrm>
            <a:off x="10067544" y="451713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0.5초 미만 단명 트랙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6309360" y="5138928"/>
            <a:ext cx="5422392" cy="987552"/>
          </a:xfrm>
          <a:prstGeom prst="roundRect">
            <a:avLst>
              <a:gd name="adj" fmla="val 5556"/>
            </a:avLst>
          </a:prstGeom>
          <a:solidFill>
            <a:srgbClr val="FFF7E8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5431536"/>
            <a:ext cx="310896" cy="310896"/>
          </a:xfrm>
          <a:prstGeom prst="rect">
            <a:avLst/>
          </a:prstGeom>
        </p:spPr>
      </p:pic>
      <p:sp>
        <p:nvSpPr>
          <p:cNvPr id="47" name="Text 43"/>
          <p:cNvSpPr/>
          <p:nvPr/>
        </p:nvSpPr>
        <p:spPr>
          <a:xfrm>
            <a:off x="6949440" y="526694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교훈: 4점 캘리브에선 BEV가 졌고, 10점에선 이겼다.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A9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병목은 추적 알고리즘이 아니라 투영 정확도였다.</a:t>
            </a:r>
            <a:endParaRPr lang="en-US" sz="1100" dirty="0"/>
          </a:p>
        </p:txBody>
      </p:sp>
      <p:sp>
        <p:nvSpPr>
          <p:cNvPr id="48" name="Shape 44"/>
          <p:cNvSpPr/>
          <p:nvPr/>
        </p:nvSpPr>
        <p:spPr>
          <a:xfrm>
            <a:off x="0" y="6382512"/>
            <a:ext cx="12188952" cy="475488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5"/>
          <p:cNvSpPr/>
          <p:nvPr/>
        </p:nvSpPr>
        <p:spPr>
          <a:xfrm>
            <a:off x="548640" y="6382512"/>
            <a:ext cx="11091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코드가 캘리브레이션 품질에 따라 승패가 뒤집힌다 — 개선 순서: 캘리브레이션 → 추적기</a:t>
            </a:r>
            <a:endParaRPr lang="en-US" sz="1250" dirty="0"/>
          </a:p>
        </p:txBody>
      </p:sp>
      <p:sp>
        <p:nvSpPr>
          <p:cNvPr id="50" name="Shape 46"/>
          <p:cNvSpPr/>
          <p:nvPr/>
        </p:nvSpPr>
        <p:spPr>
          <a:xfrm>
            <a:off x="11622024" y="6510528"/>
            <a:ext cx="365760" cy="237744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7"/>
          <p:cNvSpPr/>
          <p:nvPr/>
        </p:nvSpPr>
        <p:spPr>
          <a:xfrm>
            <a:off x="11622024" y="651052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GeoTrafficView-3D v2  ·  Traffic Digital Twin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68580" cy="42062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21792" y="548640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Ⅵ-1.  GCP 자동 캘리브레이션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0936" y="1005840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소실점 + IPM + OSM 방위로 0클릭 부트스트랩 — 사람 클릭은 보정에만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41655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41655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Ⅰ 개요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5099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65099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 워크플로우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8543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88543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 cm급 트윈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11987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11987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 3D 표출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35431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35431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Ⅴ 탐지 고도화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058875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 w="63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58875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Ⅵ 캘리브레이션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622024" y="6510528"/>
            <a:ext cx="365760" cy="237744"/>
          </a:xfrm>
          <a:prstGeom prst="rect">
            <a:avLst/>
          </a:prstGeom>
          <a:solidFill>
            <a:srgbClr val="EAF2F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1298448"/>
            <a:ext cx="2377440" cy="2743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93776" y="1298448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캘리브레이션 스펙트럼</a:t>
            </a:r>
            <a:endParaRPr lang="en-US" sz="10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27632"/>
          <a:ext cx="6858000" cy="14630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클릭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정확도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E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완전 자동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부트스트랩 (~20m)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auto_calibrate_vp.py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하이브리드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1~3점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+ GCP 저차원 보정(평행이동/유사변환)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수동 GCP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6~10점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최고 (목표 LOO ≤1m)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calibrate.html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457200" y="3291840"/>
            <a:ext cx="2377440" cy="2743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493776" y="329184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캘리브레이션 파이프라인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57200" y="3621024"/>
            <a:ext cx="6858000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2"/>
          <p:cNvSpPr/>
          <p:nvPr/>
        </p:nvSpPr>
        <p:spPr>
          <a:xfrm>
            <a:off x="676656" y="3794760"/>
            <a:ext cx="347472" cy="347472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/>
          <p:nvPr/>
        </p:nvSpPr>
        <p:spPr>
          <a:xfrm>
            <a:off x="676656" y="3794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170432" y="3767328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도로방향 선분(Hough) → 소실점(VP) 최소자승 교점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76656" y="4343400"/>
            <a:ext cx="347472" cy="347472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676656" y="4343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170432" y="4315968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VP → 카메라 자세:  pitch = atan((cy−vy)/f) · yaw = atan((vx−cx)/f)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76656" y="4892040"/>
            <a:ext cx="347472" cy="347472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676656" y="4892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170432" y="4864608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ray-plane IPM → 픽셀↔지면 호모그래피 (카메라 높이 입력)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76656" y="5440680"/>
            <a:ext cx="347472" cy="347472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676656" y="5440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1170432" y="5413248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지오앵커: 원점 = ITS 좌표 · 전방 방위 = OSM Overpass 최근접 도로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680960" y="1298448"/>
            <a:ext cx="2011680" cy="2743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7717536" y="129844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(송도IC)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7680960" y="1627632"/>
            <a:ext cx="4050792" cy="1810512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7"/>
          <p:cNvSpPr/>
          <p:nvPr/>
        </p:nvSpPr>
        <p:spPr>
          <a:xfrm>
            <a:off x="7863840" y="1755648"/>
            <a:ext cx="3703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VP (426.5, 126.7) · 재투영 &lt;1px</a:t>
            </a:r>
            <a:endParaRPr lang="en-US" sz="950" dirty="0"/>
          </a:p>
          <a:p>
            <a:pPr marL="101600" indent="-1016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pitch 8.9° · yaw 5.3°</a:t>
            </a:r>
            <a:endParaRPr lang="en-US" sz="950" dirty="0"/>
          </a:p>
          <a:p>
            <a:pPr marL="101600" indent="-1016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OSM 방위 324°(아암대로) 자동 취득</a:t>
            </a:r>
            <a:endParaRPr lang="en-US" sz="950" dirty="0"/>
          </a:p>
          <a:p>
            <a:pPr marL="101600" indent="-1016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GCP 대비 RMS ≈ 21.7m → 부트스트랩 등급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7680960" y="3621024"/>
            <a:ext cx="2377440" cy="2743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9"/>
          <p:cNvSpPr/>
          <p:nvPr/>
        </p:nvSpPr>
        <p:spPr>
          <a:xfrm>
            <a:off x="7717536" y="3621024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초점거리 자동추정 — 정직한 한계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7680960" y="3950208"/>
            <a:ext cx="4050792" cy="2139696"/>
          </a:xfrm>
          <a:prstGeom prst="roundRect">
            <a:avLst>
              <a:gd name="adj" fmla="val 2564"/>
            </a:avLst>
          </a:prstGeom>
          <a:solidFill>
            <a:srgbClr val="F2F7FC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/>
          <p:nvPr/>
        </p:nvSpPr>
        <p:spPr>
          <a:xfrm>
            <a:off x="7863840" y="4078224"/>
            <a:ext cx="3703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차선 평행성 최적화는 축퇴 — 도로선은 어떤 f에서도 VP를 지나 f 불가관측</a:t>
            </a:r>
            <a:endParaRPr lang="en-US" sz="90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2번째 직교 소실점으로 교체: f² = −(vp₁−pp)·(vp₂−pp) — 교차로에서 작동</a:t>
            </a:r>
            <a:endParaRPr lang="en-US" sz="90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고속도로는 비직교 판정 후 f=W 폴백(사유 출력) — 가짜 추정치를 만들지 않음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0" y="6382512"/>
            <a:ext cx="12188952" cy="475488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3"/>
          <p:cNvSpPr/>
          <p:nvPr/>
        </p:nvSpPr>
        <p:spPr>
          <a:xfrm>
            <a:off x="548640" y="6382512"/>
            <a:ext cx="11091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OSM Overpass는 User-Agent 필수(406) · rate-limit 대응 미러 3곳 순차 재시도</a:t>
            </a:r>
            <a:endParaRPr lang="en-US" sz="1250" dirty="0"/>
          </a:p>
        </p:txBody>
      </p:sp>
      <p:sp>
        <p:nvSpPr>
          <p:cNvPr id="47" name="Shape 44"/>
          <p:cNvSpPr/>
          <p:nvPr/>
        </p:nvSpPr>
        <p:spPr>
          <a:xfrm>
            <a:off x="11622024" y="6510528"/>
            <a:ext cx="365760" cy="237744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5"/>
          <p:cNvSpPr/>
          <p:nvPr/>
        </p:nvSpPr>
        <p:spPr>
          <a:xfrm>
            <a:off x="11622024" y="651052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GeoTrafficView-3D v2  ·  Traffic Digital Twin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68580" cy="42062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21792" y="548640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Ⅵ-2.  GT(GCP) 캘리브레이션 작업 가이드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0936" y="1005840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"RMS 0.00m"은 정확도가 아니라 검증 불가 — 실측이 만든 재작업 가이드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41655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41655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Ⅰ 개요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5099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65099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 워크플로우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8543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88543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 cm급 트윈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11987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11987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 3D 표출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35431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35431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Ⅴ 탐지 고도화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058875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 w="63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58875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Ⅵ 캘리브레이션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622024" y="6510528"/>
            <a:ext cx="365760" cy="237744"/>
          </a:xfrm>
          <a:prstGeom prst="rect">
            <a:avLst/>
          </a:prstGeom>
          <a:solidFill>
            <a:srgbClr val="EAF2F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1298448"/>
            <a:ext cx="2194560" cy="2743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93776" y="1298448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잔차 0의 함정 (수학적 사실)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1627632"/>
            <a:ext cx="5577840" cy="1517904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0080" y="173736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호모그래피 자유도 8 = GCP 4점(방정식 8개) → 잔차가 항상 0</a:t>
            </a:r>
            <a:endParaRPr lang="en-US" sz="9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b="1" dirty="0">
                <a:solidFill>
                  <a:srgbClr val="A9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"RMS 0.00m" = 검증 불가 — 이 함정으로 5대 중 4대의 오류가 장기간 은폐</a:t>
            </a:r>
            <a:endParaRPr lang="en-US" sz="9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LOO 실증: 같은 7점도 세로 분포 52% → 4.47m, 2% 뭉침 → 52.88m (12배)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291840"/>
            <a:ext cx="2194560" cy="2743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93776" y="329184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도구 3종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621024"/>
            <a:ext cx="55778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858768"/>
            <a:ext cx="256032" cy="256032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005840" y="36941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기하 타당성 — 가장 중요 (GT 불필요)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005840" y="396849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검출 픽셀 박스 vs 그 위치의 1.8×4.2m 차량 투영 크기 비교 → 5대 중 4대 불합격 적발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57200" y="4462272"/>
            <a:ext cx="55778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4700016"/>
            <a:ext cx="256032" cy="256032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1005840" y="453542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LOO 교차검증 (5점 이상)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1005840" y="480974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점 빼고 예측한 오차(m) = 진짜 정확도 — 단, 원거리 점은 본래 큼(1px ≈ 수 m)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457200" y="5303520"/>
            <a:ext cx="55778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5541264"/>
            <a:ext cx="256032" cy="256032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1005840" y="5376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브라우저 실시간 가이드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1005840" y="565099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3×3 권장 구역(핑크 소멸까지 클릭) · 실시간 경고 · 📏 차로 3.5m/깊이 10m 격자 육안 대조</a:t>
            </a:r>
            <a:endParaRPr lang="en-US" sz="850" dirty="0"/>
          </a:p>
        </p:txBody>
      </p:sp>
      <p:sp>
        <p:nvSpPr>
          <p:cNvPr id="37" name="Shape 32"/>
          <p:cNvSpPr/>
          <p:nvPr/>
        </p:nvSpPr>
        <p:spPr>
          <a:xfrm>
            <a:off x="6309360" y="1298448"/>
            <a:ext cx="2194560" cy="2743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3"/>
          <p:cNvSpPr/>
          <p:nvPr/>
        </p:nvSpPr>
        <p:spPr>
          <a:xfrm>
            <a:off x="6345936" y="1298448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목표치</a:t>
            </a:r>
            <a:endParaRPr lang="en-US" sz="10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627632"/>
          <a:ext cx="5422392" cy="16002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6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기하 타당성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E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통과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가장 중요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 개수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6~10점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4점은 검증 불가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세로(깊이)/가로 분포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50%+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깊이 스케일 결정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LOO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참고용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수치만 보고 점 삭제 금지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0" name="Shape 34"/>
          <p:cNvSpPr/>
          <p:nvPr/>
        </p:nvSpPr>
        <p:spPr>
          <a:xfrm>
            <a:off x="6309360" y="3529584"/>
            <a:ext cx="2560320" cy="2743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5"/>
          <p:cNvSpPr/>
          <p:nvPr/>
        </p:nvSpPr>
        <p:spPr>
          <a:xfrm>
            <a:off x="6345936" y="3529584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판교 재작업 실측 — 4점 → 10점</a:t>
            </a:r>
            <a:endParaRPr lang="en-US" sz="1050" dirty="0"/>
          </a:p>
        </p:txBody>
      </p:sp>
      <p:graphicFrame>
        <p:nvGraphicFramePr>
          <p:cNvPr id="4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3858768"/>
          <a:ext cx="5422392" cy="15544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세로 / 가로 분포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42% / 41%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E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69% / 75%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기하 타당성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2.36 (경계)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E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1.38 ✓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투영 잡음(횡/종)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 / 3.2 m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E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 / 2.2~2.9 m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BEV 추적 판정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634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패배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E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3" name="Shape 36"/>
          <p:cNvSpPr/>
          <p:nvPr/>
        </p:nvSpPr>
        <p:spPr>
          <a:xfrm>
            <a:off x="6309360" y="5541264"/>
            <a:ext cx="5422392" cy="548640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7"/>
          <p:cNvSpPr/>
          <p:nvPr/>
        </p:nvSpPr>
        <p:spPr>
          <a:xfrm>
            <a:off x="6455664" y="55778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A5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LOO 자동 이상치 제거는 실패 — 원거리 점 삭제 = 깊이 고정 정보 소실. --fix는 타당성 악화 시 자동 롤백</a:t>
            </a:r>
            <a:endParaRPr lang="en-US" sz="850" dirty="0"/>
          </a:p>
        </p:txBody>
      </p:sp>
      <p:sp>
        <p:nvSpPr>
          <p:cNvPr id="45" name="Shape 38"/>
          <p:cNvSpPr/>
          <p:nvPr/>
        </p:nvSpPr>
        <p:spPr>
          <a:xfrm>
            <a:off x="0" y="6382512"/>
            <a:ext cx="12188952" cy="475488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39"/>
          <p:cNvSpPr/>
          <p:nvPr/>
        </p:nvSpPr>
        <p:spPr>
          <a:xfrm>
            <a:off x="548640" y="6382512"/>
            <a:ext cx="11091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GCP: 정지선 끝 · 점선 시작/끝 · 횡단보도 모서리 · 노면 화살표 — 차량·그림자·구조물 상단 금지</a:t>
            </a:r>
            <a:endParaRPr lang="en-US" sz="1250" dirty="0"/>
          </a:p>
        </p:txBody>
      </p:sp>
      <p:sp>
        <p:nvSpPr>
          <p:cNvPr id="47" name="Shape 40"/>
          <p:cNvSpPr/>
          <p:nvPr/>
        </p:nvSpPr>
        <p:spPr>
          <a:xfrm>
            <a:off x="11622024" y="6510528"/>
            <a:ext cx="365760" cy="237744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1"/>
          <p:cNvSpPr/>
          <p:nvPr/>
        </p:nvSpPr>
        <p:spPr>
          <a:xfrm>
            <a:off x="11622024" y="651052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GeoTrafficView-3D v2  ·  Traffic Digital Twin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68580" cy="42062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21792" y="548640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Ⅵ-3.  평가 체계 · 한계 · 결론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0936" y="1005840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없이는 개선을 증명할 수 없다 — 지표 구현까지 self-test로 검증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41655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41655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Ⅰ 개요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5099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65099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 워크플로우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8543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88543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 cm급 트윈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11987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11987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 3D 표출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35431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35431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Ⅴ 탐지 고도화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0588752" y="201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 w="63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588752" y="201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Ⅵ 캘리브레이션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622024" y="6510528"/>
            <a:ext cx="365760" cy="237744"/>
          </a:xfrm>
          <a:prstGeom prst="rect">
            <a:avLst/>
          </a:prstGeom>
          <a:solidFill>
            <a:srgbClr val="EAF2F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1298448"/>
            <a:ext cx="2011680" cy="2743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93776" y="129844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체계 (tools/eval)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1627632"/>
            <a:ext cx="557784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0080" y="1755648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GT 라벨러(label.html): 박스+트랙ID, C키=이전 프레임 복사</a:t>
            </a:r>
            <a:endParaRPr lang="en-US" sz="950" dirty="0"/>
          </a:p>
          <a:p>
            <a:pPr marL="101600" indent="-1016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지표: AP50/P/R + MOTA/IDF1/IDSW/MT/ML (헝가리안 매칭)</a:t>
            </a:r>
            <a:endParaRPr lang="en-US" sz="950" dirty="0"/>
          </a:p>
          <a:p>
            <a:pPr marL="101600" indent="-1016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self-test: GT=예측 → 모두 1.000 · 열화 GT → AP50 0.177, MOTA −0.493 (정의대로 동작)</a:t>
            </a:r>
            <a:endParaRPr lang="en-US" sz="950" dirty="0"/>
          </a:p>
          <a:p>
            <a:pPr marL="101600" indent="-1016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소형 객체(17×12px) 함정: IoU 0.5는 3px 지터로 붕괴 → --iou 0.3 옵션</a:t>
            </a:r>
            <a:endParaRPr lang="en-US" sz="950" dirty="0"/>
          </a:p>
          <a:p>
            <a:pPr marL="101600" indent="-1016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sim_track_test: 정답 아는 통제 시뮬로 GT 없이도 추적 A/B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858768"/>
            <a:ext cx="2011680" cy="2743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93776" y="385876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알려진 한계 (정직한 목록)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187952"/>
            <a:ext cx="557784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40080" y="429768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GT 라벨 부재 → 실데이터 정확도 미측정(라벨러 준비 완료)</a:t>
            </a:r>
            <a:endParaRPr lang="en-US" sz="950" dirty="0"/>
          </a:p>
          <a:p>
            <a:pPr marL="101600" indent="-1016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기하 타당성 통과 1/5대 · 초점거리 대부분 f=W 가정</a:t>
            </a:r>
            <a:endParaRPr lang="en-US" sz="950" dirty="0"/>
          </a:p>
          <a:p>
            <a:pPr marL="101600" indent="-1016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평면 가정(경사·다층 미지원) · 3D 치수 고정값</a:t>
            </a:r>
            <a:endParaRPr lang="en-US" sz="950" dirty="0"/>
          </a:p>
          <a:p>
            <a:pPr marL="101600" indent="-1016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263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개인정보(번호판·얼굴) 미마스킹 — 공개 시 조치 필요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309360" y="1298448"/>
            <a:ext cx="2011680" cy="2743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345936" y="129844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 로드맵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09360" y="1627632"/>
            <a:ext cx="5422392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6455664" y="175564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455664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67728" y="168249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상암 3D 정밀도로지도 확보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967728" y="195681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TOPIS 카메라 cm급 캘리브레이션 완성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309360" y="2340864"/>
            <a:ext cx="5422392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6455664" y="24688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6455664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67728" y="23957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GT 30프레임 라벨링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967728" y="267004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실데이터 AP50·MOTA·IDF1 확정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309360" y="3054096"/>
            <a:ext cx="5422392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6455664" y="318211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6455664" y="3182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967728" y="31089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4대 GCP 재작업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967728" y="33832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재작업 가이드 따라 기하 타당성 ✓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309360" y="3767328"/>
            <a:ext cx="5422392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6455664" y="389534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6455664" y="3895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967728" y="382219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BEV 추적 기본 채택 검토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967728" y="409651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10점 캘리브에서 승리 확인됨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309360" y="4572000"/>
            <a:ext cx="5422392" cy="1536192"/>
          </a:xfrm>
          <a:prstGeom prst="roundRect">
            <a:avLst>
              <a:gd name="adj" fmla="val 3571"/>
            </a:avLst>
          </a:prstGeom>
          <a:solidFill>
            <a:srgbClr val="1F3864"/>
          </a:solidFill>
          <a:ln w="12700">
            <a:solidFill>
              <a:srgbClr val="C9DB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6528816" y="47183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B8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528816" y="502920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데이터 × 측정 기반 개발만으로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CCTV 영상이 질의 가능한 실좌표 디지털 트윈이 된다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0" y="6382512"/>
            <a:ext cx="12188952" cy="475488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548640" y="6382512"/>
            <a:ext cx="11091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GeoTrafficView-3D · GEOSTORY AI</a:t>
            </a:r>
            <a:r>
              <a:rPr lang="ko-KR" alt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기술연구본부 </a:t>
            </a:r>
            <a:r>
              <a:rPr lang="en-US" altLang="ko-KR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r>
              <a:rPr lang="ko-KR" alt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기획팀 학생연구원 홍기혁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11622024" y="6510528"/>
            <a:ext cx="365760" cy="237744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11622024" y="651052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3948</Words>
  <Application>Microsoft Office PowerPoint</Application>
  <PresentationFormat>와이드스크린</PresentationFormat>
  <Paragraphs>645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Malgun Gothic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홍기혁[컴퓨터시스템공학과]</cp:lastModifiedBy>
  <cp:revision>2</cp:revision>
  <dcterms:created xsi:type="dcterms:W3CDTF">2026-07-28T02:47:35Z</dcterms:created>
  <dcterms:modified xsi:type="dcterms:W3CDTF">2026-07-28T05:15:49Z</dcterms:modified>
</cp:coreProperties>
</file>